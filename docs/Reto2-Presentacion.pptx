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
  </p:notesMasterIdLst>
  <p:sldIdLst>
    <p:sldId id="256" r:id="rId2"/>
    <p:sldId id="257" r:id="rId3"/>
    <p:sldId id="258" r:id="rId4"/>
    <p:sldId id="259" r:id="rId5"/>
    <p:sldId id="260" r:id="rId6"/>
    <p:sldId id="261" r:id="rId7"/>
    <p:sldId id="262" r:id="rId8"/>
    <p:sldId id="263" r:id="rId9"/>
    <p:sldId id="264" r:id="rId10"/>
    <p:sldId id="265" r:id="rId1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75253" autoAdjust="0"/>
  </p:normalViewPr>
  <p:slideViewPr>
    <p:cSldViewPr snapToGrid="0" snapToObjects="1">
      <p:cViewPr varScale="1">
        <p:scale>
          <a:sx n="109" d="100"/>
          <a:sy n="109" d="100"/>
        </p:scale>
        <p:origin x="126" y="336"/>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72143123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CO" sz="1200" b="0" i="0" kern="1200" dirty="0">
                <a:solidFill>
                  <a:schemeClr val="tx1"/>
                </a:solidFill>
                <a:effectLst/>
                <a:latin typeface="+mn-lt"/>
                <a:ea typeface="+mn-ea"/>
                <a:cs typeface="+mn-cs"/>
              </a:rPr>
              <a:t>Hoy les venimos a contar cómo resolvimos el reto número dos.</a:t>
            </a:r>
          </a:p>
          <a:p>
            <a:endParaRPr lang="es-CO" sz="1200" b="0" i="0" kern="1200" dirty="0">
              <a:solidFill>
                <a:schemeClr val="tx1"/>
              </a:solidFill>
              <a:effectLst/>
              <a:latin typeface="+mn-lt"/>
              <a:ea typeface="+mn-ea"/>
              <a:cs typeface="+mn-cs"/>
            </a:endParaRPr>
          </a:p>
          <a:p>
            <a:r>
              <a:rPr lang="es-CO" sz="1200" b="0" i="0" kern="1200" dirty="0">
                <a:solidFill>
                  <a:schemeClr val="tx1"/>
                </a:solidFill>
                <a:effectLst/>
                <a:latin typeface="+mn-lt"/>
                <a:ea typeface="+mn-ea"/>
                <a:cs typeface="+mn-cs"/>
              </a:rPr>
              <a:t>El reto, dicho rápido, era construir un sistema que recibe muchos datos de unos vehículos, identifica cuándo hay una emergencia, y manda un correo de aviso. Suena sencillo, pero la gracia está en que pasen mil peticiones en treinta segundos sin perder ni una, y que el correo llegue en menos de quince segundos.</a:t>
            </a:r>
          </a:p>
          <a:p>
            <a:endParaRPr lang="es-CO" sz="1200" b="0" i="0" kern="1200" dirty="0">
              <a:solidFill>
                <a:schemeClr val="tx1"/>
              </a:solidFill>
              <a:effectLst/>
              <a:latin typeface="+mn-lt"/>
              <a:ea typeface="+mn-ea"/>
              <a:cs typeface="+mn-cs"/>
            </a:endParaRPr>
          </a:p>
          <a:p>
            <a:r>
              <a:rPr lang="es-CO" sz="1200" b="0" i="0" kern="1200" dirty="0">
                <a:solidFill>
                  <a:schemeClr val="tx1"/>
                </a:solidFill>
                <a:effectLst/>
                <a:latin typeface="+mn-lt"/>
                <a:ea typeface="+mn-ea"/>
                <a:cs typeface="+mn-cs"/>
              </a:rPr>
              <a:t>Lo armamos todo en AWS, con la infraestructura escrita en código y subida a un repositorio de GitHub. Estaremos viendo cómo funciona, qué decisiones tomamos, y al final hacemos un demo en vivo para que vean los tiempos reales.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CO" sz="1200" b="0" i="0" kern="1200" dirty="0">
                <a:solidFill>
                  <a:schemeClr val="tx1"/>
                </a:solidFill>
                <a:effectLst/>
                <a:latin typeface="+mn-lt"/>
                <a:ea typeface="+mn-ea"/>
                <a:cs typeface="+mn-cs"/>
              </a:rPr>
              <a:t>Antes de meternos en lo técnico, recordemos rapidito qué pidieron en el reto. Son tres cosas.</a:t>
            </a:r>
          </a:p>
          <a:p>
            <a:endParaRPr lang="es-CO" sz="1200" b="0" i="0" kern="1200" dirty="0">
              <a:solidFill>
                <a:schemeClr val="tx1"/>
              </a:solidFill>
              <a:effectLst/>
              <a:latin typeface="+mn-lt"/>
              <a:ea typeface="+mn-ea"/>
              <a:cs typeface="+mn-cs"/>
            </a:endParaRPr>
          </a:p>
          <a:p>
            <a:r>
              <a:rPr lang="es-CO" sz="1200" b="0" i="0" kern="1200" dirty="0">
                <a:solidFill>
                  <a:schemeClr val="tx1"/>
                </a:solidFill>
                <a:effectLst/>
                <a:latin typeface="+mn-lt"/>
                <a:ea typeface="+mn-ea"/>
                <a:cs typeface="+mn-cs"/>
              </a:rPr>
              <a:t>[PAUSA] La primera: el sistema tiene que aguantar </a:t>
            </a:r>
            <a:r>
              <a:rPr lang="es-CO" sz="1200" b="1" i="0" kern="1200" dirty="0">
                <a:solidFill>
                  <a:schemeClr val="tx1"/>
                </a:solidFill>
                <a:effectLst/>
                <a:latin typeface="+mn-lt"/>
                <a:ea typeface="+mn-ea"/>
                <a:cs typeface="+mn-cs"/>
              </a:rPr>
              <a:t>mil peticiones en treinta segundos</a:t>
            </a:r>
            <a:r>
              <a:rPr lang="es-CO" sz="1200" b="0" i="0" kern="1200" dirty="0">
                <a:solidFill>
                  <a:schemeClr val="tx1"/>
                </a:solidFill>
                <a:effectLst/>
                <a:latin typeface="+mn-lt"/>
                <a:ea typeface="+mn-ea"/>
                <a:cs typeface="+mn-cs"/>
              </a:rPr>
              <a:t>. Y no "más o menos" — tienen que pasar las mil. Si se cae una sola, ya quedamos mal.</a:t>
            </a:r>
          </a:p>
          <a:p>
            <a:endParaRPr lang="es-CO" sz="1200" b="0" i="0" kern="1200" dirty="0">
              <a:solidFill>
                <a:schemeClr val="tx1"/>
              </a:solidFill>
              <a:effectLst/>
              <a:latin typeface="+mn-lt"/>
              <a:ea typeface="+mn-ea"/>
              <a:cs typeface="+mn-cs"/>
            </a:endParaRPr>
          </a:p>
          <a:p>
            <a:r>
              <a:rPr lang="es-CO" sz="1200" b="0" i="0" kern="1200" dirty="0">
                <a:solidFill>
                  <a:schemeClr val="tx1"/>
                </a:solidFill>
                <a:effectLst/>
                <a:latin typeface="+mn-lt"/>
                <a:ea typeface="+mn-ea"/>
                <a:cs typeface="+mn-cs"/>
              </a:rPr>
              <a:t>La segunda: dentro de esas mil peticiones, algunas vienen marcadas como "</a:t>
            </a:r>
            <a:r>
              <a:rPr lang="es-CO" sz="1200" b="0" i="0" kern="1200" dirty="0" err="1">
                <a:solidFill>
                  <a:schemeClr val="tx1"/>
                </a:solidFill>
                <a:effectLst/>
                <a:latin typeface="+mn-lt"/>
                <a:ea typeface="+mn-ea"/>
                <a:cs typeface="+mn-cs"/>
              </a:rPr>
              <a:t>Emergency</a:t>
            </a:r>
            <a:r>
              <a:rPr lang="es-CO" sz="1200" b="0" i="0" kern="1200" dirty="0">
                <a:solidFill>
                  <a:schemeClr val="tx1"/>
                </a:solidFill>
                <a:effectLst/>
                <a:latin typeface="+mn-lt"/>
                <a:ea typeface="+mn-ea"/>
                <a:cs typeface="+mn-cs"/>
              </a:rPr>
              <a:t>" — son las del botón de pánico del vehículo. Cuando aparece una de esas, hay que mandar un correo a Gmail. Y dejar registrado en algún lado a qué hora llegó la emergencia y a qué hora salió el correo.</a:t>
            </a:r>
          </a:p>
          <a:p>
            <a:endParaRPr lang="es-CO" sz="1200" b="0" i="0" kern="1200" dirty="0">
              <a:solidFill>
                <a:schemeClr val="tx1"/>
              </a:solidFill>
              <a:effectLst/>
              <a:latin typeface="+mn-lt"/>
              <a:ea typeface="+mn-ea"/>
              <a:cs typeface="+mn-cs"/>
            </a:endParaRPr>
          </a:p>
          <a:p>
            <a:r>
              <a:rPr lang="es-CO" sz="1200" b="0" i="0" kern="1200" dirty="0">
                <a:solidFill>
                  <a:schemeClr val="tx1"/>
                </a:solidFill>
                <a:effectLst/>
                <a:latin typeface="+mn-lt"/>
                <a:ea typeface="+mn-ea"/>
                <a:cs typeface="+mn-cs"/>
              </a:rPr>
              <a:t>Y la tercera, que es la más enredada: las restricciones técnicas. No podemos pasarnos de quince peticiones por segundo. No podemos tener más de diez procesadores trabajando al mismo tiempo. Y el correo tiene que llegar en menos de quince segundos.</a:t>
            </a:r>
          </a:p>
          <a:p>
            <a:endParaRPr lang="es-CO" sz="1200" b="0" i="0" kern="1200" dirty="0">
              <a:solidFill>
                <a:schemeClr val="tx1"/>
              </a:solidFill>
              <a:effectLst/>
              <a:latin typeface="+mn-lt"/>
              <a:ea typeface="+mn-ea"/>
              <a:cs typeface="+mn-cs"/>
            </a:endParaRPr>
          </a:p>
          <a:p>
            <a:r>
              <a:rPr lang="es-CO" sz="1200" b="0" i="0" kern="1200" dirty="0">
                <a:solidFill>
                  <a:schemeClr val="tx1"/>
                </a:solidFill>
                <a:effectLst/>
                <a:latin typeface="+mn-lt"/>
                <a:ea typeface="+mn-ea"/>
                <a:cs typeface="+mn-cs"/>
              </a:rPr>
              <a:t>[ÉNFASIS] Esa última es clave, porque la mitad de la nota del reto se juega ahí. Quince segundos o menos, dos puntos cinco. Más de eso, baja la nota.</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CO" sz="1200" b="0" i="0" kern="1200" dirty="0">
                <a:solidFill>
                  <a:schemeClr val="tx1"/>
                </a:solidFill>
                <a:effectLst/>
                <a:latin typeface="+mn-lt"/>
                <a:ea typeface="+mn-ea"/>
                <a:cs typeface="+mn-cs"/>
              </a:rPr>
              <a:t>Esta es la arquitectura completa. </a:t>
            </a:r>
          </a:p>
          <a:p>
            <a:endParaRPr lang="es-CO" sz="1200" b="0" i="0" kern="1200" dirty="0">
              <a:solidFill>
                <a:schemeClr val="tx1"/>
              </a:solidFill>
              <a:effectLst/>
              <a:latin typeface="+mn-lt"/>
              <a:ea typeface="+mn-ea"/>
              <a:cs typeface="+mn-cs"/>
            </a:endParaRPr>
          </a:p>
          <a:p>
            <a:r>
              <a:rPr lang="es-CO" sz="1200" b="0" i="0" kern="1200" dirty="0">
                <a:solidFill>
                  <a:schemeClr val="tx1"/>
                </a:solidFill>
                <a:effectLst/>
                <a:latin typeface="+mn-lt"/>
                <a:ea typeface="+mn-ea"/>
                <a:cs typeface="+mn-cs"/>
              </a:rPr>
              <a:t>[PAUSA] Empezamos en el cliente. Esto es k6, una herramienta que simula los vehículos mandando peticiones. </a:t>
            </a:r>
          </a:p>
          <a:p>
            <a:endParaRPr lang="es-CO" sz="1200" b="0" i="0" kern="1200" dirty="0">
              <a:solidFill>
                <a:schemeClr val="tx1"/>
              </a:solidFill>
              <a:effectLst/>
              <a:latin typeface="+mn-lt"/>
              <a:ea typeface="+mn-ea"/>
              <a:cs typeface="+mn-cs"/>
            </a:endParaRPr>
          </a:p>
          <a:p>
            <a:r>
              <a:rPr lang="es-CO" sz="1200" b="0" i="0" kern="1200" dirty="0">
                <a:solidFill>
                  <a:schemeClr val="tx1"/>
                </a:solidFill>
                <a:effectLst/>
                <a:latin typeface="+mn-lt"/>
                <a:ea typeface="+mn-ea"/>
                <a:cs typeface="+mn-cs"/>
              </a:rPr>
              <a:t>La llamada cae primero en </a:t>
            </a:r>
            <a:r>
              <a:rPr lang="es-CO" sz="1200" b="1" i="0" kern="1200" dirty="0">
                <a:solidFill>
                  <a:schemeClr val="tx1"/>
                </a:solidFill>
                <a:effectLst/>
                <a:latin typeface="+mn-lt"/>
                <a:ea typeface="+mn-ea"/>
                <a:cs typeface="+mn-cs"/>
              </a:rPr>
              <a:t>API Gateway</a:t>
            </a:r>
            <a:r>
              <a:rPr lang="es-CO" sz="1200" b="0" i="0" kern="1200" dirty="0">
                <a:solidFill>
                  <a:schemeClr val="tx1"/>
                </a:solidFill>
                <a:effectLst/>
                <a:latin typeface="+mn-lt"/>
                <a:ea typeface="+mn-ea"/>
                <a:cs typeface="+mn-cs"/>
              </a:rPr>
              <a:t>. Con una </a:t>
            </a:r>
            <a:r>
              <a:rPr lang="es-CO" sz="1200" b="0" i="0" kern="1200" dirty="0" err="1">
                <a:solidFill>
                  <a:schemeClr val="tx1"/>
                </a:solidFill>
                <a:effectLst/>
                <a:latin typeface="+mn-lt"/>
                <a:ea typeface="+mn-ea"/>
                <a:cs typeface="+mn-cs"/>
              </a:rPr>
              <a:t>key</a:t>
            </a:r>
            <a:r>
              <a:rPr lang="es-CO" sz="1200" b="0" i="0" kern="1200" dirty="0">
                <a:solidFill>
                  <a:schemeClr val="tx1"/>
                </a:solidFill>
                <a:effectLst/>
                <a:latin typeface="+mn-lt"/>
                <a:ea typeface="+mn-ea"/>
                <a:cs typeface="+mn-cs"/>
              </a:rPr>
              <a:t>— un </a:t>
            </a:r>
            <a:r>
              <a:rPr lang="es-CO" sz="1200" b="0" i="0" kern="1200" dirty="0" err="1">
                <a:solidFill>
                  <a:schemeClr val="tx1"/>
                </a:solidFill>
                <a:effectLst/>
                <a:latin typeface="+mn-lt"/>
                <a:ea typeface="+mn-ea"/>
                <a:cs typeface="+mn-cs"/>
              </a:rPr>
              <a:t>header</a:t>
            </a:r>
            <a:r>
              <a:rPr lang="es-CO" sz="1200" b="0" i="0" kern="1200" dirty="0">
                <a:solidFill>
                  <a:schemeClr val="tx1"/>
                </a:solidFill>
                <a:effectLst/>
                <a:latin typeface="+mn-lt"/>
                <a:ea typeface="+mn-ea"/>
                <a:cs typeface="+mn-cs"/>
              </a:rPr>
              <a:t> llamado x-api-</a:t>
            </a:r>
            <a:r>
              <a:rPr lang="es-CO" sz="1200" b="0" i="0" kern="1200" dirty="0" err="1">
                <a:solidFill>
                  <a:schemeClr val="tx1"/>
                </a:solidFill>
                <a:effectLst/>
                <a:latin typeface="+mn-lt"/>
                <a:ea typeface="+mn-ea"/>
                <a:cs typeface="+mn-cs"/>
              </a:rPr>
              <a:t>key</a:t>
            </a:r>
            <a:endParaRPr lang="es-CO" sz="1200" b="0" i="0" kern="1200" dirty="0">
              <a:solidFill>
                <a:schemeClr val="tx1"/>
              </a:solidFill>
              <a:effectLst/>
              <a:latin typeface="+mn-lt"/>
              <a:ea typeface="+mn-ea"/>
              <a:cs typeface="+mn-cs"/>
            </a:endParaRPr>
          </a:p>
          <a:p>
            <a:endParaRPr lang="es-CO" sz="1200" b="0" i="0" kern="1200" dirty="0">
              <a:solidFill>
                <a:schemeClr val="tx1"/>
              </a:solidFill>
              <a:effectLst/>
              <a:latin typeface="+mn-lt"/>
              <a:ea typeface="+mn-ea"/>
              <a:cs typeface="+mn-cs"/>
            </a:endParaRPr>
          </a:p>
          <a:p>
            <a:r>
              <a:rPr lang="es-CO" sz="1200" b="0" i="0" kern="1200" dirty="0">
                <a:solidFill>
                  <a:schemeClr val="tx1"/>
                </a:solidFill>
                <a:effectLst/>
                <a:latin typeface="+mn-lt"/>
                <a:ea typeface="+mn-ea"/>
                <a:cs typeface="+mn-cs"/>
              </a:rPr>
              <a:t>Acá hay un detalle importante. Lo típico sería: el </a:t>
            </a:r>
            <a:r>
              <a:rPr lang="es-CO" sz="1200" b="0" i="0" kern="1200" dirty="0" err="1">
                <a:solidFill>
                  <a:schemeClr val="tx1"/>
                </a:solidFill>
                <a:effectLst/>
                <a:latin typeface="+mn-lt"/>
                <a:ea typeface="+mn-ea"/>
                <a:cs typeface="+mn-cs"/>
              </a:rPr>
              <a:t>apy</a:t>
            </a:r>
            <a:r>
              <a:rPr lang="es-CO" sz="1200" b="0" i="0" kern="1200" dirty="0">
                <a:solidFill>
                  <a:schemeClr val="tx1"/>
                </a:solidFill>
                <a:effectLst/>
                <a:latin typeface="+mn-lt"/>
                <a:ea typeface="+mn-ea"/>
                <a:cs typeface="+mn-cs"/>
              </a:rPr>
              <a:t> Gateway llama a una función Lambda, y esa Lambda escribe en una cola. Pero nosotros le ahorramos un paso: </a:t>
            </a:r>
            <a:r>
              <a:rPr lang="es-CO" sz="1200" b="1" i="0" kern="1200" dirty="0">
                <a:solidFill>
                  <a:schemeClr val="tx1"/>
                </a:solidFill>
                <a:effectLst/>
                <a:latin typeface="+mn-lt"/>
                <a:ea typeface="+mn-ea"/>
                <a:cs typeface="+mn-cs"/>
              </a:rPr>
              <a:t>dejando el mensaje directo en la cola</a:t>
            </a:r>
            <a:r>
              <a:rPr lang="es-CO" sz="1200" b="0" i="0" kern="1200" dirty="0">
                <a:solidFill>
                  <a:schemeClr val="tx1"/>
                </a:solidFill>
                <a:effectLst/>
                <a:latin typeface="+mn-lt"/>
                <a:ea typeface="+mn-ea"/>
                <a:cs typeface="+mn-cs"/>
              </a:rPr>
              <a:t>, sin pasar por una Lambda intermedia. Eso baja la latencia.</a:t>
            </a:r>
          </a:p>
          <a:p>
            <a:endParaRPr lang="es-CO" sz="1200" b="0" i="0" kern="1200" dirty="0">
              <a:solidFill>
                <a:schemeClr val="tx1"/>
              </a:solidFill>
              <a:effectLst/>
              <a:latin typeface="+mn-lt"/>
              <a:ea typeface="+mn-ea"/>
              <a:cs typeface="+mn-cs"/>
            </a:endParaRPr>
          </a:p>
          <a:p>
            <a:r>
              <a:rPr lang="es-CO" sz="1200" b="0" i="0" kern="1200" dirty="0">
                <a:solidFill>
                  <a:schemeClr val="tx1"/>
                </a:solidFill>
                <a:effectLst/>
                <a:latin typeface="+mn-lt"/>
                <a:ea typeface="+mn-ea"/>
                <a:cs typeface="+mn-cs"/>
              </a:rPr>
              <a:t>Esa cola se llama </a:t>
            </a:r>
            <a:r>
              <a:rPr lang="es-CO" sz="1200" b="1" i="0" kern="1200" dirty="0">
                <a:solidFill>
                  <a:schemeClr val="tx1"/>
                </a:solidFill>
                <a:effectLst/>
                <a:latin typeface="+mn-lt"/>
                <a:ea typeface="+mn-ea"/>
                <a:cs typeface="+mn-cs"/>
              </a:rPr>
              <a:t>SQS</a:t>
            </a:r>
            <a:r>
              <a:rPr lang="es-CO" sz="1200" b="0" i="0" kern="1200" dirty="0">
                <a:solidFill>
                  <a:schemeClr val="tx1"/>
                </a:solidFill>
                <a:effectLst/>
                <a:latin typeface="+mn-lt"/>
                <a:ea typeface="+mn-ea"/>
                <a:cs typeface="+mn-cs"/>
              </a:rPr>
              <a:t>. Tenemos uno principal y uno de respaldo — la DLQ — para los mensajes problemáticos.</a:t>
            </a:r>
          </a:p>
          <a:p>
            <a:endParaRPr lang="es-CO" sz="1200" b="0" i="0" kern="1200" dirty="0">
              <a:solidFill>
                <a:schemeClr val="tx1"/>
              </a:solidFill>
              <a:effectLst/>
              <a:latin typeface="+mn-lt"/>
              <a:ea typeface="+mn-ea"/>
              <a:cs typeface="+mn-cs"/>
            </a:endParaRPr>
          </a:p>
          <a:p>
            <a:r>
              <a:rPr lang="es-CO" sz="1200" b="0" i="0" kern="1200" dirty="0">
                <a:solidFill>
                  <a:schemeClr val="tx1"/>
                </a:solidFill>
                <a:effectLst/>
                <a:latin typeface="+mn-lt"/>
                <a:ea typeface="+mn-ea"/>
                <a:cs typeface="+mn-cs"/>
              </a:rPr>
              <a:t>Después viene la </a:t>
            </a:r>
            <a:r>
              <a:rPr lang="es-CO" sz="1200" b="1" i="0" kern="1200" dirty="0">
                <a:solidFill>
                  <a:schemeClr val="tx1"/>
                </a:solidFill>
                <a:effectLst/>
                <a:latin typeface="+mn-lt"/>
                <a:ea typeface="+mn-ea"/>
                <a:cs typeface="+mn-cs"/>
              </a:rPr>
              <a:t>Lambda</a:t>
            </a:r>
            <a:r>
              <a:rPr lang="es-CO" sz="1200" b="0" i="0" kern="1200" dirty="0">
                <a:solidFill>
                  <a:schemeClr val="tx1"/>
                </a:solidFill>
                <a:effectLst/>
                <a:latin typeface="+mn-lt"/>
                <a:ea typeface="+mn-ea"/>
                <a:cs typeface="+mn-cs"/>
              </a:rPr>
              <a:t>, que es la función que se levanta cuando hay mensajes en </a:t>
            </a:r>
            <a:r>
              <a:rPr lang="es-CO" sz="1200" b="0" i="0" kern="1200" dirty="0" err="1">
                <a:solidFill>
                  <a:schemeClr val="tx1"/>
                </a:solidFill>
                <a:effectLst/>
                <a:latin typeface="+mn-lt"/>
                <a:ea typeface="+mn-ea"/>
                <a:cs typeface="+mn-cs"/>
              </a:rPr>
              <a:t>sqs</a:t>
            </a:r>
            <a:r>
              <a:rPr lang="es-CO" sz="1200" b="0" i="0" kern="1200" dirty="0">
                <a:solidFill>
                  <a:schemeClr val="tx1"/>
                </a:solidFill>
                <a:effectLst/>
                <a:latin typeface="+mn-lt"/>
                <a:ea typeface="+mn-ea"/>
                <a:cs typeface="+mn-cs"/>
              </a:rPr>
              <a:t>. Los lee en </a:t>
            </a:r>
            <a:r>
              <a:rPr lang="es-CO" sz="1200" b="0" i="0" kern="1200" dirty="0" err="1">
                <a:solidFill>
                  <a:schemeClr val="tx1"/>
                </a:solidFill>
                <a:effectLst/>
                <a:latin typeface="+mn-lt"/>
                <a:ea typeface="+mn-ea"/>
                <a:cs typeface="+mn-cs"/>
              </a:rPr>
              <a:t>batch</a:t>
            </a:r>
            <a:r>
              <a:rPr lang="es-CO" sz="1200" b="0" i="0" kern="1200" dirty="0">
                <a:solidFill>
                  <a:schemeClr val="tx1"/>
                </a:solidFill>
                <a:effectLst/>
                <a:latin typeface="+mn-lt"/>
                <a:ea typeface="+mn-ea"/>
                <a:cs typeface="+mn-cs"/>
              </a:rPr>
              <a:t> de a diez, valida si es de tipo </a:t>
            </a:r>
            <a:r>
              <a:rPr lang="es-CO" sz="1200" b="0" i="0" kern="1200" dirty="0" err="1">
                <a:solidFill>
                  <a:schemeClr val="tx1"/>
                </a:solidFill>
                <a:effectLst/>
                <a:latin typeface="+mn-lt"/>
                <a:ea typeface="+mn-ea"/>
                <a:cs typeface="+mn-cs"/>
              </a:rPr>
              <a:t>Emergency</a:t>
            </a:r>
            <a:r>
              <a:rPr lang="es-CO" sz="1200" b="0" i="0" kern="1200" dirty="0">
                <a:solidFill>
                  <a:schemeClr val="tx1"/>
                </a:solidFill>
                <a:effectLst/>
                <a:latin typeface="+mn-lt"/>
                <a:ea typeface="+mn-ea"/>
                <a:cs typeface="+mn-cs"/>
              </a:rPr>
              <a:t>? Si sí, manda un correo usando </a:t>
            </a:r>
            <a:r>
              <a:rPr lang="es-CO" sz="1200" b="1" i="0" kern="1200" dirty="0">
                <a:solidFill>
                  <a:schemeClr val="tx1"/>
                </a:solidFill>
                <a:effectLst/>
                <a:latin typeface="+mn-lt"/>
                <a:ea typeface="+mn-ea"/>
                <a:cs typeface="+mn-cs"/>
              </a:rPr>
              <a:t>SES</a:t>
            </a:r>
            <a:r>
              <a:rPr lang="es-CO" sz="1200" b="0" i="0" kern="1200" dirty="0">
                <a:solidFill>
                  <a:schemeClr val="tx1"/>
                </a:solidFill>
                <a:effectLst/>
                <a:latin typeface="+mn-lt"/>
                <a:ea typeface="+mn-ea"/>
                <a:cs typeface="+mn-cs"/>
              </a:rPr>
              <a:t>, el servicio de correos de AWS. Si no, lo registra y sigue.</a:t>
            </a:r>
          </a:p>
          <a:p>
            <a:endParaRPr lang="es-CO" sz="1200" b="0" i="0" kern="1200" dirty="0">
              <a:solidFill>
                <a:schemeClr val="tx1"/>
              </a:solidFill>
              <a:effectLst/>
              <a:latin typeface="+mn-lt"/>
              <a:ea typeface="+mn-ea"/>
              <a:cs typeface="+mn-cs"/>
            </a:endParaRPr>
          </a:p>
          <a:p>
            <a:r>
              <a:rPr lang="es-CO" sz="1200" b="0" i="0" kern="1200" dirty="0">
                <a:solidFill>
                  <a:schemeClr val="tx1"/>
                </a:solidFill>
                <a:effectLst/>
                <a:latin typeface="+mn-lt"/>
                <a:ea typeface="+mn-ea"/>
                <a:cs typeface="+mn-cs"/>
              </a:rPr>
              <a:t>Y todo lo que pasa queda guardado en </a:t>
            </a:r>
            <a:r>
              <a:rPr lang="es-CO" sz="1200" b="1" i="0" kern="1200" dirty="0" err="1">
                <a:solidFill>
                  <a:schemeClr val="tx1"/>
                </a:solidFill>
                <a:effectLst/>
                <a:latin typeface="+mn-lt"/>
                <a:ea typeface="+mn-ea"/>
                <a:cs typeface="+mn-cs"/>
              </a:rPr>
              <a:t>CloudWatch</a:t>
            </a:r>
            <a:r>
              <a:rPr lang="es-CO" sz="1200" b="0" i="0" kern="1200" dirty="0">
                <a:solidFill>
                  <a:schemeClr val="tx1"/>
                </a:solidFill>
                <a:effectLst/>
                <a:latin typeface="+mn-lt"/>
                <a:ea typeface="+mn-ea"/>
                <a:cs typeface="+mn-cs"/>
              </a:rPr>
              <a:t>, que es como la bitácora central del sistema. Ahí podemos ir a ver qué hizo cada componente y a qué hora.</a:t>
            </a:r>
          </a:p>
          <a:p>
            <a:endParaRPr lang="es-CO" sz="1200" b="0" i="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CO" sz="1200" b="0" i="0" kern="1200" dirty="0">
                <a:solidFill>
                  <a:schemeClr val="tx1"/>
                </a:solidFill>
                <a:effectLst/>
                <a:latin typeface="+mn-lt"/>
                <a:ea typeface="+mn-ea"/>
                <a:cs typeface="+mn-cs"/>
              </a:rPr>
              <a:t>Bueno, ¿y por qué armamos el sistema así y no de otra forma? Hubo cinco decisiones importantes que les quiero comentar.</a:t>
            </a:r>
          </a:p>
          <a:p>
            <a:endParaRPr lang="es-CO" sz="1200" b="0" i="0" kern="1200" dirty="0">
              <a:solidFill>
                <a:schemeClr val="tx1"/>
              </a:solidFill>
              <a:effectLst/>
              <a:latin typeface="+mn-lt"/>
              <a:ea typeface="+mn-ea"/>
              <a:cs typeface="+mn-cs"/>
            </a:endParaRPr>
          </a:p>
          <a:p>
            <a:r>
              <a:rPr lang="es-CO" sz="1200" b="0" i="0" kern="1200" dirty="0">
                <a:solidFill>
                  <a:schemeClr val="tx1"/>
                </a:solidFill>
                <a:effectLst/>
                <a:latin typeface="+mn-lt"/>
                <a:ea typeface="+mn-ea"/>
                <a:cs typeface="+mn-cs"/>
              </a:rPr>
              <a:t>[PAUSA] </a:t>
            </a:r>
            <a:r>
              <a:rPr lang="es-CO" sz="1200" b="1" i="0" kern="1200" dirty="0">
                <a:solidFill>
                  <a:schemeClr val="tx1"/>
                </a:solidFill>
                <a:effectLst/>
                <a:latin typeface="+mn-lt"/>
                <a:ea typeface="+mn-ea"/>
                <a:cs typeface="+mn-cs"/>
              </a:rPr>
              <a:t>La primera.</a:t>
            </a:r>
            <a:r>
              <a:rPr lang="es-CO" sz="1200" b="0" i="0" kern="1200" dirty="0">
                <a:solidFill>
                  <a:schemeClr val="tx1"/>
                </a:solidFill>
                <a:effectLst/>
                <a:latin typeface="+mn-lt"/>
                <a:ea typeface="+mn-ea"/>
                <a:cs typeface="+mn-cs"/>
              </a:rPr>
              <a:t> AWS te da dos sabores de API Gateway: el viejo, REST, y el nuevo, HTTP API. El nuevo es más rápido y más barato. Uno diría: pues el nuevo, ¿cierto? Pero no, porque el reto pide explícitamente poder configurar las quince peticiones por segundo, y esa configuración solo existe en el viejo. Así que toca usar REST.</a:t>
            </a:r>
          </a:p>
          <a:p>
            <a:endParaRPr lang="es-CO" sz="1200" b="0" i="0" kern="1200" dirty="0">
              <a:solidFill>
                <a:schemeClr val="tx1"/>
              </a:solidFill>
              <a:effectLst/>
              <a:latin typeface="+mn-lt"/>
              <a:ea typeface="+mn-ea"/>
              <a:cs typeface="+mn-cs"/>
            </a:endParaRPr>
          </a:p>
          <a:p>
            <a:r>
              <a:rPr lang="es-CO" sz="1200" b="1" i="0" kern="1200" dirty="0">
                <a:solidFill>
                  <a:schemeClr val="tx1"/>
                </a:solidFill>
                <a:effectLst/>
                <a:latin typeface="+mn-lt"/>
                <a:ea typeface="+mn-ea"/>
                <a:cs typeface="+mn-cs"/>
              </a:rPr>
              <a:t>La segunda.</a:t>
            </a:r>
            <a:r>
              <a:rPr lang="es-CO" sz="1200" b="0" i="0" kern="1200" dirty="0">
                <a:solidFill>
                  <a:schemeClr val="tx1"/>
                </a:solidFill>
                <a:effectLst/>
                <a:latin typeface="+mn-lt"/>
                <a:ea typeface="+mn-ea"/>
                <a:cs typeface="+mn-cs"/>
              </a:rPr>
              <a:t> El patrón típico sería: API Gateway llama a una Lambda, y la Lambda escribe en la cola. Pero si uno lo piensa, esa Lambda intermedia no hace nada útil — solo recibir y volver a mandar. Es un paso muerto que suma tiempo. Entonces lo eliminamos: el API Gateway escribe directo en la cola. Nos ahorramos como cien o doscientos milisegundos por petición.</a:t>
            </a:r>
          </a:p>
          <a:p>
            <a:endParaRPr lang="es-CO" sz="1200" b="0" i="0" kern="1200" dirty="0">
              <a:solidFill>
                <a:schemeClr val="tx1"/>
              </a:solidFill>
              <a:effectLst/>
              <a:latin typeface="+mn-lt"/>
              <a:ea typeface="+mn-ea"/>
              <a:cs typeface="+mn-cs"/>
            </a:endParaRPr>
          </a:p>
          <a:p>
            <a:r>
              <a:rPr lang="es-CO" sz="1200" b="1" i="0" kern="1200" dirty="0">
                <a:solidFill>
                  <a:schemeClr val="tx1"/>
                </a:solidFill>
                <a:effectLst/>
                <a:latin typeface="+mn-lt"/>
                <a:ea typeface="+mn-ea"/>
                <a:cs typeface="+mn-cs"/>
              </a:rPr>
              <a:t>La tercera.</a:t>
            </a:r>
            <a:r>
              <a:rPr lang="es-CO" sz="1200" b="0" i="0" kern="1200" dirty="0">
                <a:solidFill>
                  <a:schemeClr val="tx1"/>
                </a:solidFill>
                <a:effectLst/>
                <a:latin typeface="+mn-lt"/>
                <a:ea typeface="+mn-ea"/>
                <a:cs typeface="+mn-cs"/>
              </a:rPr>
              <a:t> Las colas SQS vienen en dos modos: FIFO y Standard. FIFO te garantiza que los mensajes lleguen en el orden en que entraron, pero solo aguanta trescientos por segundo. Para nuestro pico, cuando llegan las mil de golpe, no alcanza. Standard no garantiza orden estricto, pero su capacidad es ilimitada. En nuestro caso, no importa el orden — importa la velocidad. Así que Standard.</a:t>
            </a:r>
          </a:p>
          <a:p>
            <a:endParaRPr lang="es-CO" sz="1200" b="0" i="0" kern="1200" dirty="0">
              <a:solidFill>
                <a:schemeClr val="tx1"/>
              </a:solidFill>
              <a:effectLst/>
              <a:latin typeface="+mn-lt"/>
              <a:ea typeface="+mn-ea"/>
              <a:cs typeface="+mn-cs"/>
            </a:endParaRPr>
          </a:p>
          <a:p>
            <a:r>
              <a:rPr lang="es-CO" sz="1200" b="1" i="0" kern="1200" dirty="0">
                <a:solidFill>
                  <a:schemeClr val="tx1"/>
                </a:solidFill>
                <a:effectLst/>
                <a:latin typeface="+mn-lt"/>
                <a:ea typeface="+mn-ea"/>
                <a:cs typeface="+mn-cs"/>
              </a:rPr>
              <a:t>La cuarta.</a:t>
            </a:r>
            <a:r>
              <a:rPr lang="es-CO" sz="1200" b="0" i="0" kern="1200" dirty="0">
                <a:solidFill>
                  <a:schemeClr val="tx1"/>
                </a:solidFill>
                <a:effectLst/>
                <a:latin typeface="+mn-lt"/>
                <a:ea typeface="+mn-ea"/>
                <a:cs typeface="+mn-cs"/>
              </a:rPr>
              <a:t> Para mandar correos, AWS tiene dos servicios: SNS y SES. SNS es genérico y los correos pueden tardar entre diez y treinta segundos en llegar. SES está hecho específicamente para correo y tarda entre uno y tres segundos. [ÉNFASIS] Con un límite de quince segundos, esa diferencia define si ganamos la nota completa o la mitad.</a:t>
            </a:r>
          </a:p>
          <a:p>
            <a:endParaRPr lang="es-CO" sz="1200" b="0" i="0" kern="1200" dirty="0">
              <a:solidFill>
                <a:schemeClr val="tx1"/>
              </a:solidFill>
              <a:effectLst/>
              <a:latin typeface="+mn-lt"/>
              <a:ea typeface="+mn-ea"/>
              <a:cs typeface="+mn-cs"/>
            </a:endParaRPr>
          </a:p>
          <a:p>
            <a:r>
              <a:rPr lang="es-CO" sz="1200" b="1" i="0" kern="1200" dirty="0">
                <a:solidFill>
                  <a:schemeClr val="tx1"/>
                </a:solidFill>
                <a:effectLst/>
                <a:latin typeface="+mn-lt"/>
                <a:ea typeface="+mn-ea"/>
                <a:cs typeface="+mn-cs"/>
              </a:rPr>
              <a:t>Y la quinta</a:t>
            </a:r>
            <a:r>
              <a:rPr lang="es-CO" sz="1200" b="0" i="0" kern="1200" dirty="0">
                <a:solidFill>
                  <a:schemeClr val="tx1"/>
                </a:solidFill>
                <a:effectLst/>
                <a:latin typeface="+mn-lt"/>
                <a:ea typeface="+mn-ea"/>
                <a:cs typeface="+mn-cs"/>
              </a:rPr>
              <a:t>, que es la más sutil. Para limitar las Lambdas a diez al tiempo, había dos formas. La obvia es decirle a la función directamente "máximo diez", pero eso choca con la cuota global de la cuenta AWS, que también es diez. Si reservas las diez para una sola función, no te queda nada para nada más. Entonces lo hicimos del otro lado: en el conector que une la cola con la Lambda, ahí pusimos el tope. Funciona igual, pero no toca la cuota global.</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CO" sz="1200" b="0" i="0" kern="1200" dirty="0">
                <a:solidFill>
                  <a:schemeClr val="tx1"/>
                </a:solidFill>
                <a:effectLst/>
                <a:latin typeface="+mn-lt"/>
                <a:ea typeface="+mn-ea"/>
                <a:cs typeface="+mn-cs"/>
              </a:rPr>
              <a:t>Si me preguntan cuál es el atributo de calidad más importante de esta solución, sin pensarlo dos veces les respondo: </a:t>
            </a:r>
            <a:r>
              <a:rPr lang="es-CO" sz="1200" b="1" i="0" kern="1200" dirty="0">
                <a:solidFill>
                  <a:schemeClr val="tx1"/>
                </a:solidFill>
                <a:effectLst/>
                <a:latin typeface="+mn-lt"/>
                <a:ea typeface="+mn-ea"/>
                <a:cs typeface="+mn-cs"/>
              </a:rPr>
              <a:t>Performance</a:t>
            </a:r>
            <a:r>
              <a:rPr lang="es-CO" sz="1200" b="0" i="0" kern="1200" dirty="0">
                <a:solidFill>
                  <a:schemeClr val="tx1"/>
                </a:solidFill>
                <a:effectLst/>
                <a:latin typeface="+mn-lt"/>
                <a:ea typeface="+mn-ea"/>
                <a:cs typeface="+mn-cs"/>
              </a:rPr>
              <a:t>. La velocidad con la que llega el correo desde que se manda la petición hasta que aparece en la bandeja.</a:t>
            </a:r>
          </a:p>
          <a:p>
            <a:endParaRPr lang="es-CO" sz="1200" b="0" i="0" kern="1200" dirty="0">
              <a:solidFill>
                <a:schemeClr val="tx1"/>
              </a:solidFill>
              <a:effectLst/>
              <a:latin typeface="+mn-lt"/>
              <a:ea typeface="+mn-ea"/>
              <a:cs typeface="+mn-cs"/>
            </a:endParaRPr>
          </a:p>
          <a:p>
            <a:r>
              <a:rPr lang="es-CO" sz="1200" b="0" i="0" kern="1200" dirty="0">
                <a:solidFill>
                  <a:schemeClr val="tx1"/>
                </a:solidFill>
                <a:effectLst/>
                <a:latin typeface="+mn-lt"/>
                <a:ea typeface="+mn-ea"/>
                <a:cs typeface="+mn-cs"/>
              </a:rPr>
              <a:t>[PAUSA] Y la razón es muy directa. Por un lado, la mitad de la nota del reto se juega ahí. Eso ya es razón suficiente. Pero más allá de la nota, en un sistema real de alerta temprana — estamos hablando de un botón de pánico en un vehículo — cada segundo cuenta. No es lo mismo que llegue el aviso en tres segundos que en treinta.</a:t>
            </a:r>
          </a:p>
          <a:p>
            <a:endParaRPr lang="es-CO" sz="1200" b="0" i="0" kern="1200" dirty="0">
              <a:solidFill>
                <a:schemeClr val="tx1"/>
              </a:solidFill>
              <a:effectLst/>
              <a:latin typeface="+mn-lt"/>
              <a:ea typeface="+mn-ea"/>
              <a:cs typeface="+mn-cs"/>
            </a:endParaRPr>
          </a:p>
          <a:p>
            <a:r>
              <a:rPr lang="es-CO" sz="1200" b="0" i="0" kern="1200" dirty="0">
                <a:solidFill>
                  <a:schemeClr val="tx1"/>
                </a:solidFill>
                <a:effectLst/>
                <a:latin typeface="+mn-lt"/>
                <a:ea typeface="+mn-ea"/>
                <a:cs typeface="+mn-cs"/>
              </a:rPr>
              <a:t>Por eso todas las decisiones que les conté antes apuntan al mismo objetivo: bajar latencia. Saltarse la Lambda intermedia. Usar SES en vez de SNS. Procesar los mensajes apenas llegan, sin esperar a llenar el lote.</a:t>
            </a:r>
          </a:p>
          <a:p>
            <a:endParaRPr lang="es-CO" sz="1200" b="0" i="0" kern="1200" dirty="0">
              <a:solidFill>
                <a:schemeClr val="tx1"/>
              </a:solidFill>
              <a:effectLst/>
              <a:latin typeface="+mn-lt"/>
              <a:ea typeface="+mn-ea"/>
              <a:cs typeface="+mn-cs"/>
            </a:endParaRPr>
          </a:p>
          <a:p>
            <a:r>
              <a:rPr lang="es-CO" sz="1200" b="0" i="0" kern="1200" dirty="0">
                <a:solidFill>
                  <a:schemeClr val="tx1"/>
                </a:solidFill>
                <a:effectLst/>
                <a:latin typeface="+mn-lt"/>
                <a:ea typeface="+mn-ea"/>
                <a:cs typeface="+mn-cs"/>
              </a:rPr>
              <a:t>Como atributos secundarios también cuidamos otros dos. Uno es la </a:t>
            </a:r>
            <a:r>
              <a:rPr lang="es-CO" sz="1200" b="1" i="0" kern="1200" dirty="0">
                <a:solidFill>
                  <a:schemeClr val="tx1"/>
                </a:solidFill>
                <a:effectLst/>
                <a:latin typeface="+mn-lt"/>
                <a:ea typeface="+mn-ea"/>
                <a:cs typeface="+mn-cs"/>
              </a:rPr>
              <a:t>confiabilidad</a:t>
            </a:r>
            <a:r>
              <a:rPr lang="es-CO" sz="1200" b="0" i="0" kern="1200" dirty="0">
                <a:solidFill>
                  <a:schemeClr val="tx1"/>
                </a:solidFill>
                <a:effectLst/>
                <a:latin typeface="+mn-lt"/>
                <a:ea typeface="+mn-ea"/>
                <a:cs typeface="+mn-cs"/>
              </a:rPr>
              <a:t>: la cola y la DLQ aseguran que no se pierda ningún mensaje, incluso si la Lambda tiene un problema. Y el otro es la </a:t>
            </a:r>
            <a:r>
              <a:rPr lang="es-CO" sz="1200" b="1" i="0" kern="1200" dirty="0">
                <a:solidFill>
                  <a:schemeClr val="tx1"/>
                </a:solidFill>
                <a:effectLst/>
                <a:latin typeface="+mn-lt"/>
                <a:ea typeface="+mn-ea"/>
                <a:cs typeface="+mn-cs"/>
              </a:rPr>
              <a:t>escalabilidad</a:t>
            </a:r>
            <a:r>
              <a:rPr lang="es-CO" sz="1200" b="0" i="0" kern="1200" dirty="0">
                <a:solidFill>
                  <a:schemeClr val="tx1"/>
                </a:solidFill>
                <a:effectLst/>
                <a:latin typeface="+mn-lt"/>
                <a:ea typeface="+mn-ea"/>
                <a:cs typeface="+mn-cs"/>
              </a:rPr>
              <a:t>: el </a:t>
            </a:r>
            <a:r>
              <a:rPr lang="es-CO" sz="1200" b="0" i="0" kern="1200" dirty="0" err="1">
                <a:solidFill>
                  <a:schemeClr val="tx1"/>
                </a:solidFill>
                <a:effectLst/>
                <a:latin typeface="+mn-lt"/>
                <a:ea typeface="+mn-ea"/>
                <a:cs typeface="+mn-cs"/>
              </a:rPr>
              <a:t>burst</a:t>
            </a:r>
            <a:r>
              <a:rPr lang="es-CO" sz="1200" b="0" i="0" kern="1200" dirty="0">
                <a:solidFill>
                  <a:schemeClr val="tx1"/>
                </a:solidFill>
                <a:effectLst/>
                <a:latin typeface="+mn-lt"/>
                <a:ea typeface="+mn-ea"/>
                <a:cs typeface="+mn-cs"/>
              </a:rPr>
              <a:t> de dos mil aguanta el pico inicial sin trabarse.</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CO" sz="1200" b="0" i="0" kern="1200" dirty="0">
                <a:solidFill>
                  <a:schemeClr val="tx1"/>
                </a:solidFill>
                <a:effectLst/>
                <a:latin typeface="+mn-lt"/>
                <a:ea typeface="+mn-ea"/>
                <a:cs typeface="+mn-cs"/>
              </a:rPr>
              <a:t>Para implementar todo eso aplicamos cuatro tácticas concretas.</a:t>
            </a:r>
          </a:p>
          <a:p>
            <a:endParaRPr lang="es-CO" sz="1200" b="0" i="0" kern="1200" dirty="0">
              <a:solidFill>
                <a:schemeClr val="tx1"/>
              </a:solidFill>
              <a:effectLst/>
              <a:latin typeface="+mn-lt"/>
              <a:ea typeface="+mn-ea"/>
              <a:cs typeface="+mn-cs"/>
            </a:endParaRPr>
          </a:p>
          <a:p>
            <a:r>
              <a:rPr lang="es-CO" sz="1200" b="0" i="0" kern="1200" dirty="0">
                <a:solidFill>
                  <a:schemeClr val="tx1"/>
                </a:solidFill>
                <a:effectLst/>
                <a:latin typeface="+mn-lt"/>
                <a:ea typeface="+mn-ea"/>
                <a:cs typeface="+mn-cs"/>
              </a:rPr>
              <a:t>[PAUSA] En </a:t>
            </a:r>
            <a:r>
              <a:rPr lang="es-CO" sz="1200" b="1" i="0" kern="1200" dirty="0">
                <a:solidFill>
                  <a:schemeClr val="tx1"/>
                </a:solidFill>
                <a:effectLst/>
                <a:latin typeface="+mn-lt"/>
                <a:ea typeface="+mn-ea"/>
                <a:cs typeface="+mn-cs"/>
              </a:rPr>
              <a:t>Performance</a:t>
            </a:r>
            <a:r>
              <a:rPr lang="es-CO" sz="1200" b="0" i="0" kern="1200" dirty="0">
                <a:solidFill>
                  <a:schemeClr val="tx1"/>
                </a:solidFill>
                <a:effectLst/>
                <a:latin typeface="+mn-lt"/>
                <a:ea typeface="+mn-ea"/>
                <a:cs typeface="+mn-cs"/>
              </a:rPr>
              <a:t>, la táctica es </a:t>
            </a:r>
            <a:r>
              <a:rPr lang="es-CO" sz="1200" b="1" i="0" kern="1200" dirty="0">
                <a:solidFill>
                  <a:schemeClr val="tx1"/>
                </a:solidFill>
                <a:effectLst/>
                <a:latin typeface="+mn-lt"/>
                <a:ea typeface="+mn-ea"/>
                <a:cs typeface="+mn-cs"/>
              </a:rPr>
              <a:t>introducir concurrencia</a:t>
            </a:r>
            <a:r>
              <a:rPr lang="es-CO" sz="1200" b="0" i="0" kern="1200" dirty="0">
                <a:solidFill>
                  <a:schemeClr val="tx1"/>
                </a:solidFill>
                <a:effectLst/>
                <a:latin typeface="+mn-lt"/>
                <a:ea typeface="+mn-ea"/>
                <a:cs typeface="+mn-cs"/>
              </a:rPr>
              <a:t>: las diez Lambdas trabajando al mismo tiempo. Si tuviéramos una sola Lambda procesando los mensajes uno detrás del otro, nos demoraríamos un montón. Diez al tiempo, drenamos la cola en pocos segundos.</a:t>
            </a:r>
          </a:p>
          <a:p>
            <a:endParaRPr lang="es-CO" sz="1200" b="0" i="0" kern="1200" dirty="0">
              <a:solidFill>
                <a:schemeClr val="tx1"/>
              </a:solidFill>
              <a:effectLst/>
              <a:latin typeface="+mn-lt"/>
              <a:ea typeface="+mn-ea"/>
              <a:cs typeface="+mn-cs"/>
            </a:endParaRPr>
          </a:p>
          <a:p>
            <a:r>
              <a:rPr lang="es-CO" sz="1200" b="0" i="0" kern="1200" dirty="0">
                <a:solidFill>
                  <a:schemeClr val="tx1"/>
                </a:solidFill>
                <a:effectLst/>
                <a:latin typeface="+mn-lt"/>
                <a:ea typeface="+mn-ea"/>
                <a:cs typeface="+mn-cs"/>
              </a:rPr>
              <a:t>En </a:t>
            </a:r>
            <a:r>
              <a:rPr lang="es-CO" sz="1200" b="1" i="0" kern="1200" dirty="0" err="1">
                <a:solidFill>
                  <a:schemeClr val="tx1"/>
                </a:solidFill>
                <a:effectLst/>
                <a:latin typeface="+mn-lt"/>
                <a:ea typeface="+mn-ea"/>
                <a:cs typeface="+mn-cs"/>
              </a:rPr>
              <a:t>Availability</a:t>
            </a:r>
            <a:r>
              <a:rPr lang="es-CO" sz="1200" b="0" i="0" kern="1200" dirty="0">
                <a:solidFill>
                  <a:schemeClr val="tx1"/>
                </a:solidFill>
                <a:effectLst/>
                <a:latin typeface="+mn-lt"/>
                <a:ea typeface="+mn-ea"/>
                <a:cs typeface="+mn-cs"/>
              </a:rPr>
              <a:t>, la táctica es </a:t>
            </a:r>
            <a:r>
              <a:rPr lang="es-CO" sz="1200" b="1" i="0" kern="1200" dirty="0">
                <a:solidFill>
                  <a:schemeClr val="tx1"/>
                </a:solidFill>
                <a:effectLst/>
                <a:latin typeface="+mn-lt"/>
                <a:ea typeface="+mn-ea"/>
                <a:cs typeface="+mn-cs"/>
              </a:rPr>
              <a:t>reintentar con manejo de errores</a:t>
            </a:r>
            <a:r>
              <a:rPr lang="es-CO" sz="1200" b="0" i="0" kern="1200" dirty="0">
                <a:solidFill>
                  <a:schemeClr val="tx1"/>
                </a:solidFill>
                <a:effectLst/>
                <a:latin typeface="+mn-lt"/>
                <a:ea typeface="+mn-ea"/>
                <a:cs typeface="+mn-cs"/>
              </a:rPr>
              <a:t>. Si por algún motivo la Lambda se cae procesando un mensaje, ese mensaje vuelve a la cola y se reintenta. Si después de tres intentos sigue fallando, se va a la DLQ y suena una alarma. Pero ningún mensaje se pierde, nunca.</a:t>
            </a:r>
          </a:p>
          <a:p>
            <a:endParaRPr lang="es-CO" sz="1200" b="0" i="0" kern="1200" dirty="0">
              <a:solidFill>
                <a:schemeClr val="tx1"/>
              </a:solidFill>
              <a:effectLst/>
              <a:latin typeface="+mn-lt"/>
              <a:ea typeface="+mn-ea"/>
              <a:cs typeface="+mn-cs"/>
            </a:endParaRPr>
          </a:p>
          <a:p>
            <a:r>
              <a:rPr lang="es-CO" sz="1200" b="0" i="0" kern="1200" dirty="0">
                <a:solidFill>
                  <a:schemeClr val="tx1"/>
                </a:solidFill>
                <a:effectLst/>
                <a:latin typeface="+mn-lt"/>
                <a:ea typeface="+mn-ea"/>
                <a:cs typeface="+mn-cs"/>
              </a:rPr>
              <a:t>En </a:t>
            </a:r>
            <a:r>
              <a:rPr lang="es-CO" sz="1200" b="1" i="0" kern="1200" dirty="0" err="1">
                <a:solidFill>
                  <a:schemeClr val="tx1"/>
                </a:solidFill>
                <a:effectLst/>
                <a:latin typeface="+mn-lt"/>
                <a:ea typeface="+mn-ea"/>
                <a:cs typeface="+mn-cs"/>
              </a:rPr>
              <a:t>Modifiability</a:t>
            </a:r>
            <a:r>
              <a:rPr lang="es-CO" sz="1200" b="0" i="0" kern="1200" dirty="0">
                <a:solidFill>
                  <a:schemeClr val="tx1"/>
                </a:solidFill>
                <a:effectLst/>
                <a:latin typeface="+mn-lt"/>
                <a:ea typeface="+mn-ea"/>
                <a:cs typeface="+mn-cs"/>
              </a:rPr>
              <a:t>, usamos el patrón </a:t>
            </a:r>
            <a:r>
              <a:rPr lang="es-CO" sz="1200" b="1" i="0" kern="1200" dirty="0" err="1">
                <a:solidFill>
                  <a:schemeClr val="tx1"/>
                </a:solidFill>
                <a:effectLst/>
                <a:latin typeface="+mn-lt"/>
                <a:ea typeface="+mn-ea"/>
                <a:cs typeface="+mn-cs"/>
              </a:rPr>
              <a:t>broker</a:t>
            </a:r>
            <a:r>
              <a:rPr lang="es-CO" sz="1200" b="0" i="0" kern="1200" dirty="0">
                <a:solidFill>
                  <a:schemeClr val="tx1"/>
                </a:solidFill>
                <a:effectLst/>
                <a:latin typeface="+mn-lt"/>
                <a:ea typeface="+mn-ea"/>
                <a:cs typeface="+mn-cs"/>
              </a:rPr>
              <a:t> — la cola como punto intermedio. Mañana podemos cambiar la Lambda por un servidor Docker o por una EC2, y ni el cliente ni el API Gateway se enteran. La cola es el contrato.</a:t>
            </a:r>
          </a:p>
          <a:p>
            <a:endParaRPr lang="es-CO" sz="1200" b="0" i="0" kern="1200" dirty="0">
              <a:solidFill>
                <a:schemeClr val="tx1"/>
              </a:solidFill>
              <a:effectLst/>
              <a:latin typeface="+mn-lt"/>
              <a:ea typeface="+mn-ea"/>
              <a:cs typeface="+mn-cs"/>
            </a:endParaRPr>
          </a:p>
          <a:p>
            <a:r>
              <a:rPr lang="es-CO" sz="1200" b="0" i="0" kern="1200" dirty="0">
                <a:solidFill>
                  <a:schemeClr val="tx1"/>
                </a:solidFill>
                <a:effectLst/>
                <a:latin typeface="+mn-lt"/>
                <a:ea typeface="+mn-ea"/>
                <a:cs typeface="+mn-cs"/>
              </a:rPr>
              <a:t>Y en </a:t>
            </a:r>
            <a:r>
              <a:rPr lang="es-CO" sz="1200" b="1" i="0" kern="1200" dirty="0">
                <a:solidFill>
                  <a:schemeClr val="tx1"/>
                </a:solidFill>
                <a:effectLst/>
                <a:latin typeface="+mn-lt"/>
                <a:ea typeface="+mn-ea"/>
                <a:cs typeface="+mn-cs"/>
              </a:rPr>
              <a:t>Security</a:t>
            </a:r>
            <a:r>
              <a:rPr lang="es-CO" sz="1200" b="0" i="0" kern="1200" dirty="0">
                <a:solidFill>
                  <a:schemeClr val="tx1"/>
                </a:solidFill>
                <a:effectLst/>
                <a:latin typeface="+mn-lt"/>
                <a:ea typeface="+mn-ea"/>
                <a:cs typeface="+mn-cs"/>
              </a:rPr>
              <a:t>, </a:t>
            </a:r>
            <a:r>
              <a:rPr lang="es-CO" sz="1200" b="1" i="0" kern="1200" dirty="0">
                <a:solidFill>
                  <a:schemeClr val="tx1"/>
                </a:solidFill>
                <a:effectLst/>
                <a:latin typeface="+mn-lt"/>
                <a:ea typeface="+mn-ea"/>
                <a:cs typeface="+mn-cs"/>
              </a:rPr>
              <a:t>mínimo privilegio</a:t>
            </a:r>
            <a:r>
              <a:rPr lang="es-CO" sz="1200" b="0" i="0" kern="1200" dirty="0">
                <a:solidFill>
                  <a:schemeClr val="tx1"/>
                </a:solidFill>
                <a:effectLst/>
                <a:latin typeface="+mn-lt"/>
                <a:ea typeface="+mn-ea"/>
                <a:cs typeface="+mn-cs"/>
              </a:rPr>
              <a:t>. La Lambda solo tiene permiso para mandar correos, nada más. El API Gateway solo tiene permiso para escribir en la cola, nada más. Y el </a:t>
            </a:r>
            <a:r>
              <a:rPr lang="es-CO" sz="1200" b="0" i="0" kern="1200" dirty="0" err="1">
                <a:solidFill>
                  <a:schemeClr val="tx1"/>
                </a:solidFill>
                <a:effectLst/>
                <a:latin typeface="+mn-lt"/>
                <a:ea typeface="+mn-ea"/>
                <a:cs typeface="+mn-cs"/>
              </a:rPr>
              <a:t>endpoint</a:t>
            </a:r>
            <a:r>
              <a:rPr lang="es-CO" sz="1200" b="0" i="0" kern="1200" dirty="0">
                <a:solidFill>
                  <a:schemeClr val="tx1"/>
                </a:solidFill>
                <a:effectLst/>
                <a:latin typeface="+mn-lt"/>
                <a:ea typeface="+mn-ea"/>
                <a:cs typeface="+mn-cs"/>
              </a:rPr>
              <a:t> pide la llave para cualquier petición — sin esa llave, responde un cuatrocientos tres y chao.</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72A"/>
        </a:solidFill>
        <a:effectLst/>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2563EB"/>
          </a:solidFill>
          <a:ln w="12700">
            <a:solidFill>
              <a:srgbClr val="2563EB"/>
            </a:solidFill>
            <a:prstDash val="solid"/>
          </a:ln>
        </p:spPr>
        <p:txBody>
          <a:bodyPr/>
          <a:lstStyle/>
          <a:p>
            <a:endParaRPr lang="en-US"/>
          </a:p>
        </p:txBody>
      </p:sp>
      <p:sp>
        <p:nvSpPr>
          <p:cNvPr id="3" name="Text 1"/>
          <p:cNvSpPr/>
          <p:nvPr/>
        </p:nvSpPr>
        <p:spPr>
          <a:xfrm>
            <a:off x="822960" y="1280160"/>
            <a:ext cx="10515600" cy="365760"/>
          </a:xfrm>
          <a:prstGeom prst="rect">
            <a:avLst/>
          </a:prstGeom>
          <a:noFill/>
          <a:ln/>
        </p:spPr>
        <p:txBody>
          <a:bodyPr wrap="square" lIns="0" tIns="0" rIns="0" bIns="0" rtlCol="0" anchor="ctr"/>
          <a:lstStyle/>
          <a:p>
            <a:pPr marL="0" indent="0">
              <a:buNone/>
            </a:pPr>
            <a:r>
              <a:rPr lang="en-US" sz="1200" b="1" kern="0" spc="400" dirty="0">
                <a:solidFill>
                  <a:srgbClr val="94A3B8"/>
                </a:solidFill>
                <a:latin typeface="Calibri" pitchFamily="34" charset="0"/>
                <a:ea typeface="Calibri" pitchFamily="34" charset="-122"/>
                <a:cs typeface="Calibri" pitchFamily="34" charset="-120"/>
              </a:rPr>
              <a:t>RETO 2 - DIPLOMADO ARQUITECTURAS CLOUD - MODULO 2</a:t>
            </a:r>
            <a:endParaRPr lang="en-US" sz="1200" dirty="0"/>
          </a:p>
        </p:txBody>
      </p:sp>
      <p:sp>
        <p:nvSpPr>
          <p:cNvPr id="4" name="Text 2"/>
          <p:cNvSpPr/>
          <p:nvPr/>
        </p:nvSpPr>
        <p:spPr>
          <a:xfrm>
            <a:off x="822960" y="1783080"/>
            <a:ext cx="10515600" cy="1097280"/>
          </a:xfrm>
          <a:prstGeom prst="rect">
            <a:avLst/>
          </a:prstGeom>
          <a:noFill/>
          <a:ln/>
        </p:spPr>
        <p:txBody>
          <a:bodyPr wrap="square" lIns="0" tIns="0" rIns="0" bIns="0" rtlCol="0" anchor="ctr"/>
          <a:lstStyle/>
          <a:p>
            <a:pPr marL="0" indent="0">
              <a:buNone/>
            </a:pPr>
            <a:r>
              <a:rPr lang="en-US" sz="5400" b="1" dirty="0">
                <a:solidFill>
                  <a:srgbClr val="FFFFFF"/>
                </a:solidFill>
                <a:latin typeface="Calibri" pitchFamily="34" charset="0"/>
                <a:ea typeface="Calibri" pitchFamily="34" charset="-122"/>
                <a:cs typeface="Calibri" pitchFamily="34" charset="-120"/>
              </a:rPr>
              <a:t>Sistema de Alerta Temprana</a:t>
            </a:r>
            <a:endParaRPr lang="en-US" sz="5400" dirty="0"/>
          </a:p>
        </p:txBody>
      </p:sp>
      <p:sp>
        <p:nvSpPr>
          <p:cNvPr id="5" name="Text 3"/>
          <p:cNvSpPr/>
          <p:nvPr/>
        </p:nvSpPr>
        <p:spPr>
          <a:xfrm>
            <a:off x="822960" y="2788920"/>
            <a:ext cx="10515600" cy="822960"/>
          </a:xfrm>
          <a:prstGeom prst="rect">
            <a:avLst/>
          </a:prstGeom>
          <a:noFill/>
          <a:ln/>
        </p:spPr>
        <p:txBody>
          <a:bodyPr wrap="square" lIns="0" tIns="0" rIns="0" bIns="0" rtlCol="0" anchor="ctr"/>
          <a:lstStyle/>
          <a:p>
            <a:pPr marL="0" indent="0">
              <a:buNone/>
            </a:pPr>
            <a:r>
              <a:rPr lang="en-US" sz="4000" dirty="0">
                <a:solidFill>
                  <a:srgbClr val="60A5FA"/>
                </a:solidFill>
                <a:latin typeface="Calibri" pitchFamily="34" charset="0"/>
                <a:ea typeface="Calibri" pitchFamily="34" charset="-122"/>
                <a:cs typeface="Calibri" pitchFamily="34" charset="-120"/>
              </a:rPr>
              <a:t>para Flota Vehicular</a:t>
            </a:r>
            <a:endParaRPr lang="en-US" sz="4000" dirty="0"/>
          </a:p>
        </p:txBody>
      </p:sp>
      <p:sp>
        <p:nvSpPr>
          <p:cNvPr id="6" name="Text 4"/>
          <p:cNvSpPr/>
          <p:nvPr/>
        </p:nvSpPr>
        <p:spPr>
          <a:xfrm>
            <a:off x="822960" y="3749040"/>
            <a:ext cx="10058400" cy="822960"/>
          </a:xfrm>
          <a:prstGeom prst="rect">
            <a:avLst/>
          </a:prstGeom>
          <a:noFill/>
          <a:ln/>
        </p:spPr>
        <p:txBody>
          <a:bodyPr wrap="square" lIns="0" tIns="0" rIns="0" bIns="0" rtlCol="0" anchor="ctr"/>
          <a:lstStyle/>
          <a:p>
            <a:pPr marL="0" indent="0">
              <a:buNone/>
            </a:pPr>
            <a:r>
              <a:rPr lang="en-US" sz="1600" i="1" dirty="0">
                <a:solidFill>
                  <a:srgbClr val="CBD5E1"/>
                </a:solidFill>
                <a:latin typeface="Calibri" pitchFamily="34" charset="0"/>
                <a:ea typeface="Calibri" pitchFamily="34" charset="-122"/>
                <a:cs typeface="Calibri" pitchFamily="34" charset="-120"/>
              </a:rPr>
              <a:t>Endpoint serverless en AWS que recibe 1000 eventos en 30 segundos, detecta emergencias y notifica a Gmail en menos de 15 segundos.</a:t>
            </a:r>
            <a:endParaRPr lang="en-US" sz="1600" dirty="0"/>
          </a:p>
        </p:txBody>
      </p:sp>
      <p:sp>
        <p:nvSpPr>
          <p:cNvPr id="7" name="Text 5"/>
          <p:cNvSpPr/>
          <p:nvPr/>
        </p:nvSpPr>
        <p:spPr>
          <a:xfrm>
            <a:off x="822960" y="4663440"/>
            <a:ext cx="10058400" cy="365760"/>
          </a:xfrm>
          <a:prstGeom prst="rect">
            <a:avLst/>
          </a:prstGeom>
          <a:noFill/>
          <a:ln/>
        </p:spPr>
        <p:txBody>
          <a:bodyPr wrap="square" lIns="0" tIns="0" rIns="0" bIns="0" rtlCol="0" anchor="ctr"/>
          <a:lstStyle/>
          <a:p>
            <a:pPr marL="0" indent="0">
              <a:buNone/>
            </a:pPr>
            <a:r>
              <a:rPr lang="en-US" sz="1300" dirty="0">
                <a:solidFill>
                  <a:srgbClr val="94A3B8"/>
                </a:solidFill>
                <a:latin typeface="Calibri" pitchFamily="34" charset="0"/>
                <a:ea typeface="Calibri" pitchFamily="34" charset="-122"/>
                <a:cs typeface="Calibri" pitchFamily="34" charset="-120"/>
              </a:rPr>
              <a:t>API Gateway REST  |  SQS  |  Lambda Python ARM64 + SnapStart  |  SES  |  100% Terraform</a:t>
            </a:r>
            <a:endParaRPr lang="en-US" sz="1300" dirty="0"/>
          </a:p>
        </p:txBody>
      </p:sp>
      <p:sp>
        <p:nvSpPr>
          <p:cNvPr id="8" name="Shape 6"/>
          <p:cNvSpPr/>
          <p:nvPr/>
        </p:nvSpPr>
        <p:spPr>
          <a:xfrm>
            <a:off x="822960" y="5349240"/>
            <a:ext cx="54864" cy="1143000"/>
          </a:xfrm>
          <a:prstGeom prst="rect">
            <a:avLst/>
          </a:prstGeom>
          <a:solidFill>
            <a:srgbClr val="2563EB"/>
          </a:solidFill>
          <a:ln w="12700">
            <a:solidFill>
              <a:srgbClr val="2563EB"/>
            </a:solidFill>
            <a:prstDash val="solid"/>
          </a:ln>
        </p:spPr>
        <p:txBody>
          <a:bodyPr/>
          <a:lstStyle/>
          <a:p>
            <a:endParaRPr lang="en-US"/>
          </a:p>
        </p:txBody>
      </p:sp>
      <p:sp>
        <p:nvSpPr>
          <p:cNvPr id="9" name="Text 7"/>
          <p:cNvSpPr/>
          <p:nvPr/>
        </p:nvSpPr>
        <p:spPr>
          <a:xfrm>
            <a:off x="1005840" y="5349240"/>
            <a:ext cx="10058400" cy="274320"/>
          </a:xfrm>
          <a:prstGeom prst="rect">
            <a:avLst/>
          </a:prstGeom>
          <a:noFill/>
          <a:ln/>
        </p:spPr>
        <p:txBody>
          <a:bodyPr wrap="square" lIns="0" tIns="0" rIns="0" bIns="0" rtlCol="0" anchor="ctr"/>
          <a:lstStyle/>
          <a:p>
            <a:pPr marL="0" indent="0">
              <a:buNone/>
            </a:pPr>
            <a:r>
              <a:rPr lang="en-US" sz="1100" b="1" kern="0" spc="400" dirty="0">
                <a:solidFill>
                  <a:srgbClr val="94A3B8"/>
                </a:solidFill>
                <a:latin typeface="Calibri" pitchFamily="34" charset="0"/>
                <a:ea typeface="Calibri" pitchFamily="34" charset="-122"/>
                <a:cs typeface="Calibri" pitchFamily="34" charset="-120"/>
              </a:rPr>
              <a:t>EQUIPO</a:t>
            </a:r>
            <a:endParaRPr lang="en-US" sz="1100" dirty="0"/>
          </a:p>
        </p:txBody>
      </p:sp>
      <p:sp>
        <p:nvSpPr>
          <p:cNvPr id="10" name="Text 8"/>
          <p:cNvSpPr/>
          <p:nvPr/>
        </p:nvSpPr>
        <p:spPr>
          <a:xfrm>
            <a:off x="1005840" y="5650992"/>
            <a:ext cx="5029200" cy="36576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Luis Fernando Padilla</a:t>
            </a:r>
            <a:endParaRPr lang="en-US" sz="1600" dirty="0"/>
          </a:p>
        </p:txBody>
      </p:sp>
      <p:sp>
        <p:nvSpPr>
          <p:cNvPr id="11" name="Text 9"/>
          <p:cNvSpPr/>
          <p:nvPr/>
        </p:nvSpPr>
        <p:spPr>
          <a:xfrm>
            <a:off x="6126480" y="5650992"/>
            <a:ext cx="5029200" cy="36576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Erick Nieto</a:t>
            </a:r>
            <a:endParaRPr lang="en-US" sz="1600" dirty="0"/>
          </a:p>
        </p:txBody>
      </p:sp>
      <p:sp>
        <p:nvSpPr>
          <p:cNvPr id="12" name="Text 10"/>
          <p:cNvSpPr/>
          <p:nvPr/>
        </p:nvSpPr>
        <p:spPr>
          <a:xfrm>
            <a:off x="1005840" y="6035040"/>
            <a:ext cx="5029200" cy="36576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Raul Valencia</a:t>
            </a:r>
            <a:endParaRPr lang="en-US" sz="1600" dirty="0"/>
          </a:p>
        </p:txBody>
      </p:sp>
      <p:sp>
        <p:nvSpPr>
          <p:cNvPr id="13" name="Text 11"/>
          <p:cNvSpPr/>
          <p:nvPr/>
        </p:nvSpPr>
        <p:spPr>
          <a:xfrm>
            <a:off x="6126480" y="6035040"/>
            <a:ext cx="5029200" cy="36576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Juan Bohorquez</a:t>
            </a:r>
            <a:endParaRPr lang="en-US" sz="1600" dirty="0"/>
          </a:p>
        </p:txBody>
      </p:sp>
      <p:sp>
        <p:nvSpPr>
          <p:cNvPr id="14" name="Text 12"/>
          <p:cNvSpPr/>
          <p:nvPr/>
        </p:nvSpPr>
        <p:spPr>
          <a:xfrm>
            <a:off x="822960" y="6537960"/>
            <a:ext cx="10058400" cy="274320"/>
          </a:xfrm>
          <a:prstGeom prst="rect">
            <a:avLst/>
          </a:prstGeom>
          <a:noFill/>
          <a:ln/>
        </p:spPr>
        <p:txBody>
          <a:bodyPr wrap="square" lIns="0" tIns="0" rIns="0" bIns="0" rtlCol="0" anchor="ctr"/>
          <a:lstStyle/>
          <a:p>
            <a:r>
              <a:rPr lang="en-US" sz="1100" dirty="0">
                <a:solidFill>
                  <a:srgbClr val="64748B"/>
                </a:solidFill>
                <a:latin typeface="Calibri" pitchFamily="34" charset="0"/>
                <a:ea typeface="Calibri" pitchFamily="34" charset="-122"/>
                <a:cs typeface="Calibri" pitchFamily="34" charset="-120"/>
              </a:rPr>
              <a:t>2026-04-27  |  github.com/DkSanjed/reto2-eventos-correos</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320040"/>
            <a:ext cx="11247120" cy="640080"/>
          </a:xfrm>
          <a:prstGeom prst="rect">
            <a:avLst/>
          </a:prstGeom>
          <a:noFill/>
          <a:ln/>
        </p:spPr>
        <p:txBody>
          <a:bodyPr wrap="square" lIns="0" tIns="0" rIns="0" bIns="0" rtlCol="0" anchor="ctr"/>
          <a:lstStyle/>
          <a:p>
            <a:pPr marL="0" indent="0" algn="l">
              <a:buNone/>
            </a:pPr>
            <a:r>
              <a:rPr lang="en-US" sz="3200" b="1" dirty="0">
                <a:solidFill>
                  <a:srgbClr val="0F172A"/>
                </a:solidFill>
                <a:latin typeface="Calibri" pitchFamily="34" charset="0"/>
                <a:ea typeface="Calibri" pitchFamily="34" charset="-122"/>
                <a:cs typeface="Calibri" pitchFamily="34" charset="-120"/>
              </a:rPr>
              <a:t>El reto en 3 puntos</a:t>
            </a:r>
            <a:endParaRPr lang="en-US" sz="3200" dirty="0"/>
          </a:p>
        </p:txBody>
      </p:sp>
      <p:sp>
        <p:nvSpPr>
          <p:cNvPr id="3" name="Text 1"/>
          <p:cNvSpPr/>
          <p:nvPr/>
        </p:nvSpPr>
        <p:spPr>
          <a:xfrm>
            <a:off x="457200" y="960120"/>
            <a:ext cx="11247120" cy="365760"/>
          </a:xfrm>
          <a:prstGeom prst="rect">
            <a:avLst/>
          </a:prstGeom>
          <a:noFill/>
          <a:ln/>
        </p:spPr>
        <p:txBody>
          <a:bodyPr wrap="square" lIns="0" tIns="0" rIns="0" bIns="0" rtlCol="0" anchor="ctr"/>
          <a:lstStyle/>
          <a:p>
            <a:pPr marL="0" indent="0" algn="l">
              <a:buNone/>
            </a:pPr>
            <a:r>
              <a:rPr lang="en-US" sz="1400" i="1" dirty="0">
                <a:solidFill>
                  <a:srgbClr val="64748B"/>
                </a:solidFill>
                <a:latin typeface="Calibri" pitchFamily="34" charset="0"/>
                <a:ea typeface="Calibri" pitchFamily="34" charset="-122"/>
                <a:cs typeface="Calibri" pitchFamily="34" charset="-120"/>
              </a:rPr>
              <a:t>Que tiene que cumplir el sistema</a:t>
            </a:r>
            <a:endParaRPr lang="en-US" sz="1400" dirty="0"/>
          </a:p>
        </p:txBody>
      </p:sp>
      <p:sp>
        <p:nvSpPr>
          <p:cNvPr id="4" name="Shape 2"/>
          <p:cNvSpPr/>
          <p:nvPr/>
        </p:nvSpPr>
        <p:spPr>
          <a:xfrm>
            <a:off x="457200" y="1828800"/>
            <a:ext cx="3566160" cy="4023360"/>
          </a:xfrm>
          <a:prstGeom prst="rect">
            <a:avLst/>
          </a:prstGeom>
          <a:solidFill>
            <a:srgbClr val="FFFFFF"/>
          </a:solidFill>
          <a:ln w="12700">
            <a:solidFill>
              <a:srgbClr val="E2E8F0"/>
            </a:solidFill>
            <a:prstDash val="solid"/>
          </a:ln>
        </p:spPr>
        <p:txBody>
          <a:bodyPr/>
          <a:lstStyle/>
          <a:p>
            <a:endParaRPr lang="en-US"/>
          </a:p>
        </p:txBody>
      </p:sp>
      <p:sp>
        <p:nvSpPr>
          <p:cNvPr id="5" name="Shape 3"/>
          <p:cNvSpPr/>
          <p:nvPr/>
        </p:nvSpPr>
        <p:spPr>
          <a:xfrm>
            <a:off x="457200" y="1828800"/>
            <a:ext cx="3566160" cy="164592"/>
          </a:xfrm>
          <a:prstGeom prst="rect">
            <a:avLst/>
          </a:prstGeom>
          <a:solidFill>
            <a:srgbClr val="065A82"/>
          </a:solidFill>
          <a:ln w="12700">
            <a:solidFill>
              <a:srgbClr val="065A82"/>
            </a:solidFill>
            <a:prstDash val="solid"/>
          </a:ln>
        </p:spPr>
        <p:txBody>
          <a:bodyPr/>
          <a:lstStyle/>
          <a:p>
            <a:endParaRPr lang="en-US"/>
          </a:p>
        </p:txBody>
      </p:sp>
      <p:sp>
        <p:nvSpPr>
          <p:cNvPr id="6" name="Shape 4"/>
          <p:cNvSpPr/>
          <p:nvPr/>
        </p:nvSpPr>
        <p:spPr>
          <a:xfrm>
            <a:off x="777240" y="2331720"/>
            <a:ext cx="822960" cy="822960"/>
          </a:xfrm>
          <a:prstGeom prst="ellipse">
            <a:avLst/>
          </a:prstGeom>
          <a:solidFill>
            <a:srgbClr val="065A82"/>
          </a:solidFill>
          <a:ln w="12700">
            <a:solidFill>
              <a:srgbClr val="065A82"/>
            </a:solidFill>
            <a:prstDash val="solid"/>
          </a:ln>
        </p:spPr>
        <p:txBody>
          <a:bodyPr/>
          <a:lstStyle/>
          <a:p>
            <a:endParaRPr lang="en-US"/>
          </a:p>
        </p:txBody>
      </p:sp>
      <p:sp>
        <p:nvSpPr>
          <p:cNvPr id="7" name="Text 5"/>
          <p:cNvSpPr/>
          <p:nvPr/>
        </p:nvSpPr>
        <p:spPr>
          <a:xfrm>
            <a:off x="777240" y="2331720"/>
            <a:ext cx="822960" cy="822960"/>
          </a:xfrm>
          <a:prstGeom prst="rect">
            <a:avLst/>
          </a:prstGeom>
          <a:noFill/>
          <a:ln/>
        </p:spPr>
        <p:txBody>
          <a:bodyPr wrap="square" lIns="0" tIns="0" rIns="0" bIns="0" rtlCol="0" anchor="ctr"/>
          <a:lstStyle/>
          <a:p>
            <a:pPr marL="0" indent="0" algn="ctr">
              <a:buNone/>
            </a:pPr>
            <a:r>
              <a:rPr lang="en-US" sz="3200" b="1" dirty="0">
                <a:solidFill>
                  <a:srgbClr val="FFFFFF"/>
                </a:solidFill>
                <a:latin typeface="Calibri" pitchFamily="34" charset="0"/>
                <a:ea typeface="Calibri" pitchFamily="34" charset="-122"/>
                <a:cs typeface="Calibri" pitchFamily="34" charset="-120"/>
              </a:rPr>
              <a:t>1</a:t>
            </a:r>
            <a:endParaRPr lang="en-US" sz="3200" dirty="0"/>
          </a:p>
        </p:txBody>
      </p:sp>
      <p:sp>
        <p:nvSpPr>
          <p:cNvPr id="8" name="Text 6"/>
          <p:cNvSpPr/>
          <p:nvPr/>
        </p:nvSpPr>
        <p:spPr>
          <a:xfrm>
            <a:off x="777240" y="3383280"/>
            <a:ext cx="2926080" cy="548640"/>
          </a:xfrm>
          <a:prstGeom prst="rect">
            <a:avLst/>
          </a:prstGeom>
          <a:noFill/>
          <a:ln/>
        </p:spPr>
        <p:txBody>
          <a:bodyPr wrap="square" lIns="0" tIns="0" rIns="0" bIns="0" rtlCol="0" anchor="ctr"/>
          <a:lstStyle/>
          <a:p>
            <a:pPr marL="0" indent="0">
              <a:buNone/>
            </a:pPr>
            <a:r>
              <a:rPr lang="en-US" sz="2200" b="1" dirty="0">
                <a:solidFill>
                  <a:srgbClr val="0F172A"/>
                </a:solidFill>
                <a:latin typeface="Calibri" pitchFamily="34" charset="0"/>
                <a:ea typeface="Calibri" pitchFamily="34" charset="-122"/>
                <a:cs typeface="Calibri" pitchFamily="34" charset="-120"/>
              </a:rPr>
              <a:t>Recepcion masiva</a:t>
            </a:r>
            <a:endParaRPr lang="en-US" sz="2200" dirty="0"/>
          </a:p>
        </p:txBody>
      </p:sp>
      <p:sp>
        <p:nvSpPr>
          <p:cNvPr id="9" name="Text 7"/>
          <p:cNvSpPr/>
          <p:nvPr/>
        </p:nvSpPr>
        <p:spPr>
          <a:xfrm>
            <a:off x="777240" y="4023360"/>
            <a:ext cx="2926080" cy="1645920"/>
          </a:xfrm>
          <a:prstGeom prst="rect">
            <a:avLst/>
          </a:prstGeom>
          <a:noFill/>
          <a:ln/>
        </p:spPr>
        <p:txBody>
          <a:bodyPr wrap="square" rtlCol="0" anchor="t"/>
          <a:lstStyle/>
          <a:p>
            <a:pPr marL="342900" indent="-342900">
              <a:spcAft>
                <a:spcPts val="600"/>
              </a:spcAft>
              <a:buSzPct val="100000"/>
              <a:buChar char="■"/>
            </a:pPr>
            <a:r>
              <a:rPr lang="en-US" sz="1500" dirty="0">
                <a:solidFill>
                  <a:srgbClr val="0F172A"/>
                </a:solidFill>
                <a:latin typeface="Calibri" pitchFamily="34" charset="0"/>
                <a:ea typeface="Calibri" pitchFamily="34" charset="-122"/>
                <a:cs typeface="Calibri" pitchFamily="34" charset="-120"/>
              </a:rPr>
              <a:t>1000 eventos en 30 segundos</a:t>
            </a:r>
            <a:endParaRPr lang="en-US" sz="1500" dirty="0"/>
          </a:p>
          <a:p>
            <a:pPr marL="342900" indent="-342900">
              <a:spcAft>
                <a:spcPts val="600"/>
              </a:spcAft>
              <a:buSzPct val="100000"/>
              <a:buChar char="■"/>
            </a:pPr>
            <a:r>
              <a:rPr lang="en-US" sz="1500" dirty="0">
                <a:solidFill>
                  <a:srgbClr val="0F172A"/>
                </a:solidFill>
                <a:latin typeface="Calibri" pitchFamily="34" charset="0"/>
                <a:ea typeface="Calibri" pitchFamily="34" charset="-122"/>
                <a:cs typeface="Calibri" pitchFamily="34" charset="-120"/>
              </a:rPr>
              <a:t>100% procesados sin perdidas</a:t>
            </a:r>
            <a:endParaRPr lang="en-US" sz="1500" dirty="0"/>
          </a:p>
          <a:p>
            <a:pPr marL="342900" indent="-342900">
              <a:spcAft>
                <a:spcPts val="600"/>
              </a:spcAft>
              <a:buSzPct val="100000"/>
              <a:buChar char="■"/>
            </a:pPr>
            <a:r>
              <a:rPr lang="en-US" sz="1500" dirty="0">
                <a:solidFill>
                  <a:srgbClr val="0F172A"/>
                </a:solidFill>
                <a:latin typeface="Calibri" pitchFamily="34" charset="0"/>
                <a:ea typeface="Calibri" pitchFamily="34" charset="-122"/>
                <a:cs typeface="Calibri" pitchFamily="34" charset="-120"/>
              </a:rPr>
              <a:t>Endpoint estable bajo el pico</a:t>
            </a:r>
            <a:endParaRPr lang="en-US" sz="1500" dirty="0"/>
          </a:p>
        </p:txBody>
      </p:sp>
      <p:sp>
        <p:nvSpPr>
          <p:cNvPr id="10" name="Shape 8"/>
          <p:cNvSpPr/>
          <p:nvPr/>
        </p:nvSpPr>
        <p:spPr>
          <a:xfrm>
            <a:off x="4297680" y="1828800"/>
            <a:ext cx="3566160" cy="4023360"/>
          </a:xfrm>
          <a:prstGeom prst="rect">
            <a:avLst/>
          </a:prstGeom>
          <a:solidFill>
            <a:srgbClr val="FFFFFF"/>
          </a:solidFill>
          <a:ln w="12700">
            <a:solidFill>
              <a:srgbClr val="E2E8F0"/>
            </a:solidFill>
            <a:prstDash val="solid"/>
          </a:ln>
        </p:spPr>
        <p:txBody>
          <a:bodyPr/>
          <a:lstStyle/>
          <a:p>
            <a:endParaRPr lang="en-US"/>
          </a:p>
        </p:txBody>
      </p:sp>
      <p:sp>
        <p:nvSpPr>
          <p:cNvPr id="11" name="Shape 9"/>
          <p:cNvSpPr/>
          <p:nvPr/>
        </p:nvSpPr>
        <p:spPr>
          <a:xfrm>
            <a:off x="4297680" y="1828800"/>
            <a:ext cx="3566160" cy="164592"/>
          </a:xfrm>
          <a:prstGeom prst="rect">
            <a:avLst/>
          </a:prstGeom>
          <a:solidFill>
            <a:srgbClr val="1C7293"/>
          </a:solidFill>
          <a:ln w="12700">
            <a:solidFill>
              <a:srgbClr val="1C7293"/>
            </a:solidFill>
            <a:prstDash val="solid"/>
          </a:ln>
        </p:spPr>
        <p:txBody>
          <a:bodyPr/>
          <a:lstStyle/>
          <a:p>
            <a:endParaRPr lang="en-US"/>
          </a:p>
        </p:txBody>
      </p:sp>
      <p:sp>
        <p:nvSpPr>
          <p:cNvPr id="12" name="Shape 10"/>
          <p:cNvSpPr/>
          <p:nvPr/>
        </p:nvSpPr>
        <p:spPr>
          <a:xfrm>
            <a:off x="4617720" y="2331720"/>
            <a:ext cx="822960" cy="822960"/>
          </a:xfrm>
          <a:prstGeom prst="ellipse">
            <a:avLst/>
          </a:prstGeom>
          <a:solidFill>
            <a:srgbClr val="1C7293"/>
          </a:solidFill>
          <a:ln w="12700">
            <a:solidFill>
              <a:srgbClr val="1C7293"/>
            </a:solidFill>
            <a:prstDash val="solid"/>
          </a:ln>
        </p:spPr>
        <p:txBody>
          <a:bodyPr/>
          <a:lstStyle/>
          <a:p>
            <a:endParaRPr lang="en-US"/>
          </a:p>
        </p:txBody>
      </p:sp>
      <p:sp>
        <p:nvSpPr>
          <p:cNvPr id="13" name="Text 11"/>
          <p:cNvSpPr/>
          <p:nvPr/>
        </p:nvSpPr>
        <p:spPr>
          <a:xfrm>
            <a:off x="4617720" y="2331720"/>
            <a:ext cx="822960" cy="822960"/>
          </a:xfrm>
          <a:prstGeom prst="rect">
            <a:avLst/>
          </a:prstGeom>
          <a:noFill/>
          <a:ln/>
        </p:spPr>
        <p:txBody>
          <a:bodyPr wrap="square" lIns="0" tIns="0" rIns="0" bIns="0" rtlCol="0" anchor="ctr"/>
          <a:lstStyle/>
          <a:p>
            <a:pPr marL="0" indent="0" algn="ctr">
              <a:buNone/>
            </a:pPr>
            <a:r>
              <a:rPr lang="en-US" sz="3200" b="1" dirty="0">
                <a:solidFill>
                  <a:srgbClr val="FFFFFF"/>
                </a:solidFill>
                <a:latin typeface="Calibri" pitchFamily="34" charset="0"/>
                <a:ea typeface="Calibri" pitchFamily="34" charset="-122"/>
                <a:cs typeface="Calibri" pitchFamily="34" charset="-120"/>
              </a:rPr>
              <a:t>2</a:t>
            </a:r>
            <a:endParaRPr lang="en-US" sz="3200" dirty="0"/>
          </a:p>
        </p:txBody>
      </p:sp>
      <p:sp>
        <p:nvSpPr>
          <p:cNvPr id="14" name="Text 12"/>
          <p:cNvSpPr/>
          <p:nvPr/>
        </p:nvSpPr>
        <p:spPr>
          <a:xfrm>
            <a:off x="4617720" y="3383280"/>
            <a:ext cx="2926080" cy="548640"/>
          </a:xfrm>
          <a:prstGeom prst="rect">
            <a:avLst/>
          </a:prstGeom>
          <a:noFill/>
          <a:ln/>
        </p:spPr>
        <p:txBody>
          <a:bodyPr wrap="square" lIns="0" tIns="0" rIns="0" bIns="0" rtlCol="0" anchor="ctr"/>
          <a:lstStyle/>
          <a:p>
            <a:pPr marL="0" indent="0">
              <a:buNone/>
            </a:pPr>
            <a:r>
              <a:rPr lang="en-US" sz="2200" b="1" dirty="0">
                <a:solidFill>
                  <a:srgbClr val="0F172A"/>
                </a:solidFill>
                <a:latin typeface="Calibri" pitchFamily="34" charset="0"/>
                <a:ea typeface="Calibri" pitchFamily="34" charset="-122"/>
                <a:cs typeface="Calibri" pitchFamily="34" charset="-120"/>
              </a:rPr>
              <a:t>Deteccion en tiempo real</a:t>
            </a:r>
            <a:endParaRPr lang="en-US" sz="2200" dirty="0"/>
          </a:p>
        </p:txBody>
      </p:sp>
      <p:sp>
        <p:nvSpPr>
          <p:cNvPr id="15" name="Text 13"/>
          <p:cNvSpPr/>
          <p:nvPr/>
        </p:nvSpPr>
        <p:spPr>
          <a:xfrm>
            <a:off x="4617720" y="4023360"/>
            <a:ext cx="2926080" cy="1645920"/>
          </a:xfrm>
          <a:prstGeom prst="rect">
            <a:avLst/>
          </a:prstGeom>
          <a:noFill/>
          <a:ln/>
        </p:spPr>
        <p:txBody>
          <a:bodyPr wrap="square" rtlCol="0" anchor="t"/>
          <a:lstStyle/>
          <a:p>
            <a:pPr marL="342900" indent="-342900">
              <a:spcAft>
                <a:spcPts val="600"/>
              </a:spcAft>
              <a:buSzPct val="100000"/>
              <a:buChar char="■"/>
            </a:pPr>
            <a:r>
              <a:rPr lang="en-US" sz="1500" dirty="0">
                <a:solidFill>
                  <a:srgbClr val="0F172A"/>
                </a:solidFill>
                <a:latin typeface="Calibri" pitchFamily="34" charset="0"/>
                <a:ea typeface="Calibri" pitchFamily="34" charset="-122"/>
                <a:cs typeface="Calibri" pitchFamily="34" charset="-120"/>
              </a:rPr>
              <a:t>Identificar type=Emergency</a:t>
            </a:r>
            <a:endParaRPr lang="en-US" sz="1500" dirty="0"/>
          </a:p>
          <a:p>
            <a:pPr marL="342900" indent="-342900">
              <a:spcAft>
                <a:spcPts val="600"/>
              </a:spcAft>
              <a:buSzPct val="100000"/>
              <a:buChar char="■"/>
            </a:pPr>
            <a:r>
              <a:rPr lang="en-US" sz="1500" dirty="0">
                <a:solidFill>
                  <a:srgbClr val="0F172A"/>
                </a:solidFill>
                <a:latin typeface="Calibri" pitchFamily="34" charset="0"/>
                <a:ea typeface="Calibri" pitchFamily="34" charset="-122"/>
                <a:cs typeface="Calibri" pitchFamily="34" charset="-120"/>
              </a:rPr>
              <a:t>Notificar por correo a Gmail</a:t>
            </a:r>
            <a:endParaRPr lang="en-US" sz="1500" dirty="0"/>
          </a:p>
          <a:p>
            <a:pPr marL="342900" indent="-342900">
              <a:spcAft>
                <a:spcPts val="600"/>
              </a:spcAft>
              <a:buSzPct val="100000"/>
              <a:buChar char="■"/>
            </a:pPr>
            <a:r>
              <a:rPr lang="en-US" sz="1500" dirty="0">
                <a:solidFill>
                  <a:srgbClr val="0F172A"/>
                </a:solidFill>
                <a:latin typeface="Calibri" pitchFamily="34" charset="0"/>
                <a:ea typeface="Calibri" pitchFamily="34" charset="-122"/>
                <a:cs typeface="Calibri" pitchFamily="34" charset="-120"/>
              </a:rPr>
              <a:t>Logs con hora exacta de evento y envio</a:t>
            </a:r>
            <a:endParaRPr lang="en-US" sz="1500" dirty="0"/>
          </a:p>
        </p:txBody>
      </p:sp>
      <p:sp>
        <p:nvSpPr>
          <p:cNvPr id="16" name="Shape 14"/>
          <p:cNvSpPr/>
          <p:nvPr/>
        </p:nvSpPr>
        <p:spPr>
          <a:xfrm>
            <a:off x="8138160" y="1828800"/>
            <a:ext cx="3566160" cy="4023360"/>
          </a:xfrm>
          <a:prstGeom prst="rect">
            <a:avLst/>
          </a:prstGeom>
          <a:solidFill>
            <a:srgbClr val="FFFFFF"/>
          </a:solidFill>
          <a:ln w="12700">
            <a:solidFill>
              <a:srgbClr val="E2E8F0"/>
            </a:solidFill>
            <a:prstDash val="solid"/>
          </a:ln>
        </p:spPr>
        <p:txBody>
          <a:bodyPr/>
          <a:lstStyle/>
          <a:p>
            <a:endParaRPr lang="en-US"/>
          </a:p>
        </p:txBody>
      </p:sp>
      <p:sp>
        <p:nvSpPr>
          <p:cNvPr id="17" name="Shape 15"/>
          <p:cNvSpPr/>
          <p:nvPr/>
        </p:nvSpPr>
        <p:spPr>
          <a:xfrm>
            <a:off x="8138160" y="1828800"/>
            <a:ext cx="3566160" cy="164592"/>
          </a:xfrm>
          <a:prstGeom prst="rect">
            <a:avLst/>
          </a:prstGeom>
          <a:solidFill>
            <a:srgbClr val="2563EB"/>
          </a:solidFill>
          <a:ln w="12700">
            <a:solidFill>
              <a:srgbClr val="2563EB"/>
            </a:solidFill>
            <a:prstDash val="solid"/>
          </a:ln>
        </p:spPr>
        <p:txBody>
          <a:bodyPr/>
          <a:lstStyle/>
          <a:p>
            <a:endParaRPr lang="en-US"/>
          </a:p>
        </p:txBody>
      </p:sp>
      <p:sp>
        <p:nvSpPr>
          <p:cNvPr id="18" name="Shape 16"/>
          <p:cNvSpPr/>
          <p:nvPr/>
        </p:nvSpPr>
        <p:spPr>
          <a:xfrm>
            <a:off x="8458200" y="2331720"/>
            <a:ext cx="822960" cy="822960"/>
          </a:xfrm>
          <a:prstGeom prst="ellipse">
            <a:avLst/>
          </a:prstGeom>
          <a:solidFill>
            <a:srgbClr val="2563EB"/>
          </a:solidFill>
          <a:ln w="12700">
            <a:solidFill>
              <a:srgbClr val="2563EB"/>
            </a:solidFill>
            <a:prstDash val="solid"/>
          </a:ln>
        </p:spPr>
        <p:txBody>
          <a:bodyPr/>
          <a:lstStyle/>
          <a:p>
            <a:endParaRPr lang="en-US"/>
          </a:p>
        </p:txBody>
      </p:sp>
      <p:sp>
        <p:nvSpPr>
          <p:cNvPr id="19" name="Text 17"/>
          <p:cNvSpPr/>
          <p:nvPr/>
        </p:nvSpPr>
        <p:spPr>
          <a:xfrm>
            <a:off x="8458200" y="2331720"/>
            <a:ext cx="822960" cy="822960"/>
          </a:xfrm>
          <a:prstGeom prst="rect">
            <a:avLst/>
          </a:prstGeom>
          <a:noFill/>
          <a:ln/>
        </p:spPr>
        <p:txBody>
          <a:bodyPr wrap="square" lIns="0" tIns="0" rIns="0" bIns="0" rtlCol="0" anchor="ctr"/>
          <a:lstStyle/>
          <a:p>
            <a:pPr marL="0" indent="0" algn="ctr">
              <a:buNone/>
            </a:pPr>
            <a:r>
              <a:rPr lang="en-US" sz="3200" b="1" dirty="0">
                <a:solidFill>
                  <a:srgbClr val="FFFFFF"/>
                </a:solidFill>
                <a:latin typeface="Calibri" pitchFamily="34" charset="0"/>
                <a:ea typeface="Calibri" pitchFamily="34" charset="-122"/>
                <a:cs typeface="Calibri" pitchFamily="34" charset="-120"/>
              </a:rPr>
              <a:t>3</a:t>
            </a:r>
            <a:endParaRPr lang="en-US" sz="3200" dirty="0"/>
          </a:p>
        </p:txBody>
      </p:sp>
      <p:sp>
        <p:nvSpPr>
          <p:cNvPr id="20" name="Text 18"/>
          <p:cNvSpPr/>
          <p:nvPr/>
        </p:nvSpPr>
        <p:spPr>
          <a:xfrm>
            <a:off x="8458200" y="3383280"/>
            <a:ext cx="2926080" cy="548640"/>
          </a:xfrm>
          <a:prstGeom prst="rect">
            <a:avLst/>
          </a:prstGeom>
          <a:noFill/>
          <a:ln/>
        </p:spPr>
        <p:txBody>
          <a:bodyPr wrap="square" lIns="0" tIns="0" rIns="0" bIns="0" rtlCol="0" anchor="ctr"/>
          <a:lstStyle/>
          <a:p>
            <a:pPr marL="0" indent="0">
              <a:buNone/>
            </a:pPr>
            <a:r>
              <a:rPr lang="en-US" sz="2200" b="1" dirty="0">
                <a:solidFill>
                  <a:srgbClr val="0F172A"/>
                </a:solidFill>
                <a:latin typeface="Calibri" pitchFamily="34" charset="0"/>
                <a:ea typeface="Calibri" pitchFamily="34" charset="-122"/>
                <a:cs typeface="Calibri" pitchFamily="34" charset="-120"/>
              </a:rPr>
              <a:t>Restricciones tecnicas</a:t>
            </a:r>
            <a:endParaRPr lang="en-US" sz="2200" dirty="0"/>
          </a:p>
        </p:txBody>
      </p:sp>
      <p:sp>
        <p:nvSpPr>
          <p:cNvPr id="21" name="Text 19"/>
          <p:cNvSpPr/>
          <p:nvPr/>
        </p:nvSpPr>
        <p:spPr>
          <a:xfrm>
            <a:off x="8458200" y="4023360"/>
            <a:ext cx="2926080" cy="1645920"/>
          </a:xfrm>
          <a:prstGeom prst="rect">
            <a:avLst/>
          </a:prstGeom>
          <a:noFill/>
          <a:ln/>
        </p:spPr>
        <p:txBody>
          <a:bodyPr wrap="square" rtlCol="0" anchor="t"/>
          <a:lstStyle/>
          <a:p>
            <a:pPr marL="342900" indent="-342900">
              <a:spcAft>
                <a:spcPts val="600"/>
              </a:spcAft>
              <a:buSzPct val="100000"/>
              <a:buChar char="■"/>
            </a:pPr>
            <a:r>
              <a:rPr lang="en-US" sz="1500" dirty="0">
                <a:solidFill>
                  <a:srgbClr val="0F172A"/>
                </a:solidFill>
                <a:latin typeface="Calibri" pitchFamily="34" charset="0"/>
                <a:ea typeface="Calibri" pitchFamily="34" charset="-122"/>
                <a:cs typeface="Calibri" pitchFamily="34" charset="-120"/>
              </a:rPr>
              <a:t>API GW rate=15/s, burst=2000</a:t>
            </a:r>
            <a:endParaRPr lang="en-US" sz="1500" dirty="0"/>
          </a:p>
          <a:p>
            <a:pPr marL="342900" indent="-342900">
              <a:spcAft>
                <a:spcPts val="600"/>
              </a:spcAft>
              <a:buSzPct val="100000"/>
              <a:buChar char="■"/>
            </a:pPr>
            <a:r>
              <a:rPr lang="en-US" sz="1500" dirty="0">
                <a:solidFill>
                  <a:srgbClr val="0F172A"/>
                </a:solidFill>
                <a:latin typeface="Calibri" pitchFamily="34" charset="0"/>
                <a:ea typeface="Calibri" pitchFamily="34" charset="-122"/>
                <a:cs typeface="Calibri" pitchFamily="34" charset="-120"/>
              </a:rPr>
              <a:t>Maximo 10 procesadores concurrentes</a:t>
            </a:r>
            <a:endParaRPr lang="en-US" sz="1500" dirty="0"/>
          </a:p>
          <a:p>
            <a:pPr marL="342900" indent="-342900">
              <a:spcAft>
                <a:spcPts val="600"/>
              </a:spcAft>
              <a:buSzPct val="100000"/>
              <a:buChar char="■"/>
            </a:pPr>
            <a:r>
              <a:rPr lang="en-US" sz="1500" dirty="0">
                <a:solidFill>
                  <a:srgbClr val="0F172A"/>
                </a:solidFill>
                <a:latin typeface="Calibri" pitchFamily="34" charset="0"/>
                <a:ea typeface="Calibri" pitchFamily="34" charset="-122"/>
                <a:cs typeface="Calibri" pitchFamily="34" charset="-120"/>
              </a:rPr>
              <a:t>Correo en menos de 15 segundos = 2.5 puntos</a:t>
            </a:r>
            <a:endParaRPr lang="en-US" sz="1500" dirty="0"/>
          </a:p>
        </p:txBody>
      </p:sp>
      <p:sp>
        <p:nvSpPr>
          <p:cNvPr id="22" name="Text 20"/>
          <p:cNvSpPr/>
          <p:nvPr/>
        </p:nvSpPr>
        <p:spPr>
          <a:xfrm>
            <a:off x="457200" y="6446520"/>
            <a:ext cx="10515600" cy="274320"/>
          </a:xfrm>
          <a:prstGeom prst="rect">
            <a:avLst/>
          </a:prstGeom>
          <a:noFill/>
          <a:ln/>
        </p:spPr>
        <p:txBody>
          <a:bodyPr wrap="square" lIns="0" tIns="0" rIns="0" bIns="0" rtlCol="0" anchor="ctr"/>
          <a:lstStyle/>
          <a:p>
            <a:pPr marL="0" indent="0" algn="l">
              <a:buNone/>
            </a:pPr>
            <a:r>
              <a:rPr lang="en-US" sz="900" dirty="0">
                <a:solidFill>
                  <a:srgbClr val="64748B"/>
                </a:solidFill>
                <a:latin typeface="Calibri" pitchFamily="34" charset="0"/>
                <a:ea typeface="Calibri" pitchFamily="34" charset="-122"/>
                <a:cs typeface="Calibri" pitchFamily="34" charset="-120"/>
              </a:rPr>
              <a:t>Reto 2 - Sistema de Alerta Temprana | Equipo: Padilla / Nieto / Valencia / Bohorquez | 2026-04-27</a:t>
            </a:r>
            <a:endParaRPr lang="en-US" sz="900" dirty="0"/>
          </a:p>
        </p:txBody>
      </p:sp>
      <p:sp>
        <p:nvSpPr>
          <p:cNvPr id="23" name="Text 21"/>
          <p:cNvSpPr/>
          <p:nvPr/>
        </p:nvSpPr>
        <p:spPr>
          <a:xfrm>
            <a:off x="11430000" y="6446520"/>
            <a:ext cx="274320" cy="27432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320040"/>
            <a:ext cx="11247120" cy="640080"/>
          </a:xfrm>
          <a:prstGeom prst="rect">
            <a:avLst/>
          </a:prstGeom>
          <a:noFill/>
          <a:ln/>
        </p:spPr>
        <p:txBody>
          <a:bodyPr wrap="square" lIns="0" tIns="0" rIns="0" bIns="0" rtlCol="0" anchor="ctr"/>
          <a:lstStyle/>
          <a:p>
            <a:pPr marL="0" indent="0" algn="l">
              <a:buNone/>
            </a:pPr>
            <a:r>
              <a:rPr lang="en-US" sz="3200" b="1" dirty="0">
                <a:solidFill>
                  <a:srgbClr val="0F172A"/>
                </a:solidFill>
                <a:latin typeface="Calibri" pitchFamily="34" charset="0"/>
                <a:ea typeface="Calibri" pitchFamily="34" charset="-122"/>
                <a:cs typeface="Calibri" pitchFamily="34" charset="-120"/>
              </a:rPr>
              <a:t>Arquitectura de la solucion</a:t>
            </a:r>
            <a:endParaRPr lang="en-US" sz="3200" dirty="0"/>
          </a:p>
        </p:txBody>
      </p:sp>
      <p:sp>
        <p:nvSpPr>
          <p:cNvPr id="3" name="Text 1"/>
          <p:cNvSpPr/>
          <p:nvPr/>
        </p:nvSpPr>
        <p:spPr>
          <a:xfrm>
            <a:off x="457200" y="960120"/>
            <a:ext cx="11247120" cy="365760"/>
          </a:xfrm>
          <a:prstGeom prst="rect">
            <a:avLst/>
          </a:prstGeom>
          <a:noFill/>
          <a:ln/>
        </p:spPr>
        <p:txBody>
          <a:bodyPr wrap="square" lIns="0" tIns="0" rIns="0" bIns="0" rtlCol="0" anchor="ctr"/>
          <a:lstStyle/>
          <a:p>
            <a:pPr marL="0" indent="0" algn="l">
              <a:buNone/>
            </a:pPr>
            <a:r>
              <a:rPr lang="en-US" sz="1400" i="1" dirty="0">
                <a:solidFill>
                  <a:srgbClr val="64748B"/>
                </a:solidFill>
                <a:latin typeface="Calibri" pitchFamily="34" charset="0"/>
                <a:ea typeface="Calibri" pitchFamily="34" charset="-122"/>
                <a:cs typeface="Calibri" pitchFamily="34" charset="-120"/>
              </a:rPr>
              <a:t>Flujo desde el cliente k6 hasta Gmail (us-east-1)</a:t>
            </a:r>
            <a:endParaRPr lang="en-US" sz="1400" dirty="0"/>
          </a:p>
        </p:txBody>
      </p:sp>
      <p:pic>
        <p:nvPicPr>
          <p:cNvPr id="4" name="Image 0" descr="C:\Users\erick\Documents\work\Diplomado\Modulo2\reto2-fleet-alerts\docs\architecture.png"/>
          <p:cNvPicPr>
            <a:picLocks noChangeAspect="1"/>
          </p:cNvPicPr>
          <p:nvPr/>
        </p:nvPicPr>
        <p:blipFill>
          <a:blip r:embed="rId3"/>
          <a:stretch>
            <a:fillRect/>
          </a:stretch>
        </p:blipFill>
        <p:spPr>
          <a:xfrm>
            <a:off x="904470" y="1554480"/>
            <a:ext cx="10352580" cy="4846320"/>
          </a:xfrm>
          <a:prstGeom prst="rect">
            <a:avLst/>
          </a:prstGeom>
        </p:spPr>
      </p:pic>
      <p:sp>
        <p:nvSpPr>
          <p:cNvPr id="5" name="Text 2"/>
          <p:cNvSpPr/>
          <p:nvPr/>
        </p:nvSpPr>
        <p:spPr>
          <a:xfrm>
            <a:off x="457200" y="6446520"/>
            <a:ext cx="10515600" cy="274320"/>
          </a:xfrm>
          <a:prstGeom prst="rect">
            <a:avLst/>
          </a:prstGeom>
          <a:noFill/>
          <a:ln/>
        </p:spPr>
        <p:txBody>
          <a:bodyPr wrap="square" lIns="0" tIns="0" rIns="0" bIns="0" rtlCol="0" anchor="ctr"/>
          <a:lstStyle/>
          <a:p>
            <a:pPr marL="0" indent="0" algn="l">
              <a:buNone/>
            </a:pPr>
            <a:r>
              <a:rPr lang="en-US" sz="900" dirty="0">
                <a:solidFill>
                  <a:srgbClr val="64748B"/>
                </a:solidFill>
                <a:latin typeface="Calibri" pitchFamily="34" charset="0"/>
                <a:ea typeface="Calibri" pitchFamily="34" charset="-122"/>
                <a:cs typeface="Calibri" pitchFamily="34" charset="-120"/>
              </a:rPr>
              <a:t>Reto 2 - Sistema de Alerta Temprana | Equipo: Padilla / Nieto / Valencia / Bohorquez | 2026-04-27</a:t>
            </a:r>
            <a:endParaRPr lang="en-US" sz="900" dirty="0"/>
          </a:p>
        </p:txBody>
      </p:sp>
      <p:sp>
        <p:nvSpPr>
          <p:cNvPr id="6" name="Text 3"/>
          <p:cNvSpPr/>
          <p:nvPr/>
        </p:nvSpPr>
        <p:spPr>
          <a:xfrm>
            <a:off x="11430000" y="6446520"/>
            <a:ext cx="274320" cy="27432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320040"/>
            <a:ext cx="11247120" cy="640080"/>
          </a:xfrm>
          <a:prstGeom prst="rect">
            <a:avLst/>
          </a:prstGeom>
          <a:noFill/>
          <a:ln/>
        </p:spPr>
        <p:txBody>
          <a:bodyPr wrap="square" lIns="0" tIns="0" rIns="0" bIns="0" rtlCol="0" anchor="ctr"/>
          <a:lstStyle/>
          <a:p>
            <a:pPr marL="0" indent="0" algn="l">
              <a:buNone/>
            </a:pPr>
            <a:r>
              <a:rPr lang="en-US" sz="3200" b="1" dirty="0">
                <a:solidFill>
                  <a:srgbClr val="0F172A"/>
                </a:solidFill>
                <a:latin typeface="Calibri" pitchFamily="34" charset="0"/>
                <a:ea typeface="Calibri" pitchFamily="34" charset="-122"/>
                <a:cs typeface="Calibri" pitchFamily="34" charset="-120"/>
              </a:rPr>
              <a:t>Decisiones de arquitectura</a:t>
            </a:r>
            <a:endParaRPr lang="en-US" sz="3200" dirty="0"/>
          </a:p>
        </p:txBody>
      </p:sp>
      <p:sp>
        <p:nvSpPr>
          <p:cNvPr id="3" name="Text 1"/>
          <p:cNvSpPr/>
          <p:nvPr/>
        </p:nvSpPr>
        <p:spPr>
          <a:xfrm>
            <a:off x="457200" y="960120"/>
            <a:ext cx="11247120" cy="365760"/>
          </a:xfrm>
          <a:prstGeom prst="rect">
            <a:avLst/>
          </a:prstGeom>
          <a:noFill/>
          <a:ln/>
        </p:spPr>
        <p:txBody>
          <a:bodyPr wrap="square" lIns="0" tIns="0" rIns="0" bIns="0" rtlCol="0" anchor="ctr"/>
          <a:lstStyle/>
          <a:p>
            <a:pPr marL="0" indent="0" algn="l">
              <a:buNone/>
            </a:pPr>
            <a:r>
              <a:rPr lang="en-US" sz="1400" i="1" dirty="0">
                <a:solidFill>
                  <a:srgbClr val="64748B"/>
                </a:solidFill>
                <a:latin typeface="Calibri" pitchFamily="34" charset="0"/>
                <a:ea typeface="Calibri" pitchFamily="34" charset="-122"/>
                <a:cs typeface="Calibri" pitchFamily="34" charset="-120"/>
              </a:rPr>
              <a:t>Las 5 elecciones que mas impactan el SLA</a:t>
            </a:r>
            <a:endParaRPr lang="en-US" sz="14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11247120" cy="4892040"/>
        </p:xfrm>
        <a:graphic>
          <a:graphicData uri="http://schemas.openxmlformats.org/drawingml/2006/table">
            <a:tbl>
              <a:tblPr/>
              <a:tblGrid>
                <a:gridCol w="274320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5212080">
                  <a:extLst>
                    <a:ext uri="{9D8B030D-6E8A-4147-A177-3AD203B41FA5}">
                      <a16:colId xmlns:a16="http://schemas.microsoft.com/office/drawing/2014/main" val="20002"/>
                    </a:ext>
                  </a:extLst>
                </a:gridCol>
              </a:tblGrid>
              <a:tr h="502920">
                <a:tc>
                  <a:txBody>
                    <a:bodyPr/>
                    <a:lstStyle/>
                    <a:p>
                      <a:pPr marL="0" indent="0" algn="l">
                        <a:buNone/>
                      </a:pPr>
                      <a:r>
                        <a:rPr lang="en-US" sz="1300" b="1" dirty="0">
                          <a:solidFill>
                            <a:srgbClr val="FFFFFF"/>
                          </a:solidFill>
                          <a:latin typeface="Calibri" pitchFamily="34" charset="0"/>
                          <a:ea typeface="Calibri" pitchFamily="34" charset="-122"/>
                          <a:cs typeface="Calibri" pitchFamily="34" charset="-120"/>
                        </a:rPr>
                        <a:t>Decision</a:t>
                      </a:r>
                      <a:endParaRPr lang="en-US" sz="1300" dirty="0">
                        <a:latin typeface="Calibri" charset="0"/>
                        <a:ea typeface="Calibri" charset="0"/>
                        <a:cs typeface="Calibri" charset="0"/>
                      </a:endParaRPr>
                    </a:p>
                  </a:txBody>
                  <a:tcPr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0F172A"/>
                    </a:solidFill>
                  </a:tcPr>
                </a:tc>
                <a:tc>
                  <a:txBody>
                    <a:bodyPr/>
                    <a:lstStyle/>
                    <a:p>
                      <a:pPr marL="0" indent="0" algn="l">
                        <a:buNone/>
                      </a:pPr>
                      <a:r>
                        <a:rPr lang="en-US" sz="1300" b="1" dirty="0">
                          <a:solidFill>
                            <a:srgbClr val="FFFFFF"/>
                          </a:solidFill>
                          <a:latin typeface="Calibri" pitchFamily="34" charset="0"/>
                          <a:ea typeface="Calibri" pitchFamily="34" charset="-122"/>
                          <a:cs typeface="Calibri" pitchFamily="34" charset="-120"/>
                        </a:rPr>
                        <a:t>Eleccion</a:t>
                      </a:r>
                      <a:endParaRPr lang="en-US" sz="1300" dirty="0">
                        <a:latin typeface="Calibri" charset="0"/>
                        <a:ea typeface="Calibri" charset="0"/>
                        <a:cs typeface="Calibri" charset="0"/>
                      </a:endParaRPr>
                    </a:p>
                  </a:txBody>
                  <a:tcPr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0F172A"/>
                    </a:solidFill>
                  </a:tcPr>
                </a:tc>
                <a:tc>
                  <a:txBody>
                    <a:bodyPr/>
                    <a:lstStyle/>
                    <a:p>
                      <a:pPr marL="0" indent="0" algn="l">
                        <a:buNone/>
                      </a:pPr>
                      <a:r>
                        <a:rPr lang="en-US" sz="1300" b="1" dirty="0">
                          <a:solidFill>
                            <a:srgbClr val="FFFFFF"/>
                          </a:solidFill>
                          <a:latin typeface="Calibri" pitchFamily="34" charset="0"/>
                          <a:ea typeface="Calibri" pitchFamily="34" charset="-122"/>
                          <a:cs typeface="Calibri" pitchFamily="34" charset="-120"/>
                        </a:rPr>
                        <a:t>Razon</a:t>
                      </a:r>
                      <a:endParaRPr lang="en-US" sz="1300" dirty="0">
                        <a:latin typeface="Calibri" charset="0"/>
                        <a:ea typeface="Calibri" charset="0"/>
                        <a:cs typeface="Calibri" charset="0"/>
                      </a:endParaRPr>
                    </a:p>
                  </a:txBody>
                  <a:tcPr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0F172A"/>
                    </a:solidFill>
                  </a:tcPr>
                </a:tc>
                <a:extLst>
                  <a:ext uri="{0D108BD9-81ED-4DB2-BD59-A6C34878D82A}">
                    <a16:rowId xmlns:a16="http://schemas.microsoft.com/office/drawing/2014/main" val="10000"/>
                  </a:ext>
                </a:extLst>
              </a:tr>
              <a:tr h="868680">
                <a:tc>
                  <a:txBody>
                    <a:bodyPr/>
                    <a:lstStyle/>
                    <a:p>
                      <a:pPr marL="0" indent="0" algn="l">
                        <a:buNone/>
                      </a:pPr>
                      <a:r>
                        <a:rPr lang="en-US" sz="1200" dirty="0">
                          <a:solidFill>
                            <a:srgbClr val="0F172A"/>
                          </a:solidFill>
                          <a:latin typeface="Calibri" pitchFamily="34" charset="0"/>
                          <a:ea typeface="Calibri" pitchFamily="34" charset="-122"/>
                          <a:cs typeface="Calibri" pitchFamily="34" charset="-120"/>
                        </a:rPr>
                        <a:t>Tipo de API Gateway</a:t>
                      </a:r>
                      <a:endParaRPr lang="en-US" sz="1200" dirty="0">
                        <a:latin typeface="Calibri" charset="0"/>
                        <a:ea typeface="Calibri" charset="0"/>
                        <a:cs typeface="Calibri" charset="0"/>
                      </a:endParaRPr>
                    </a:p>
                  </a:txBody>
                  <a:tcPr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marL="0" indent="0" algn="l">
                        <a:buNone/>
                      </a:pPr>
                      <a:r>
                        <a:rPr lang="en-US" sz="1200" b="1" dirty="0">
                          <a:solidFill>
                            <a:srgbClr val="065A82"/>
                          </a:solidFill>
                          <a:latin typeface="Calibri" pitchFamily="34" charset="0"/>
                          <a:ea typeface="Calibri" pitchFamily="34" charset="-122"/>
                          <a:cs typeface="Calibri" pitchFamily="34" charset="-120"/>
                        </a:rPr>
                        <a:t>REST (v1)</a:t>
                      </a:r>
                      <a:endParaRPr lang="en-US" sz="1200" dirty="0">
                        <a:latin typeface="Calibri" charset="0"/>
                        <a:ea typeface="Calibri" charset="0"/>
                        <a:cs typeface="Calibri" charset="0"/>
                      </a:endParaRPr>
                    </a:p>
                  </a:txBody>
                  <a:tcPr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marL="0" indent="0" algn="l">
                        <a:buNone/>
                      </a:pPr>
                      <a:r>
                        <a:rPr lang="en-US" sz="1200" dirty="0">
                          <a:solidFill>
                            <a:srgbClr val="0F172A"/>
                          </a:solidFill>
                          <a:latin typeface="Calibri" pitchFamily="34" charset="0"/>
                          <a:ea typeface="Calibri" pitchFamily="34" charset="-122"/>
                          <a:cs typeface="Calibri" pitchFamily="34" charset="-120"/>
                        </a:rPr>
                        <a:t>Unico que expone rate y burst nativos por stage (requisito explicito)</a:t>
                      </a:r>
                      <a:endParaRPr lang="en-US" sz="1200" dirty="0">
                        <a:latin typeface="Calibri" charset="0"/>
                        <a:ea typeface="Calibri" charset="0"/>
                        <a:cs typeface="Calibri" charset="0"/>
                      </a:endParaRPr>
                    </a:p>
                  </a:txBody>
                  <a:tcPr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1"/>
                  </a:ext>
                </a:extLst>
              </a:tr>
              <a:tr h="868680">
                <a:tc>
                  <a:txBody>
                    <a:bodyPr/>
                    <a:lstStyle/>
                    <a:p>
                      <a:pPr marL="0" indent="0" algn="l">
                        <a:buNone/>
                      </a:pPr>
                      <a:r>
                        <a:rPr lang="en-US" sz="1200" dirty="0">
                          <a:solidFill>
                            <a:srgbClr val="0F172A"/>
                          </a:solidFill>
                          <a:latin typeface="Calibri" pitchFamily="34" charset="0"/>
                          <a:ea typeface="Calibri" pitchFamily="34" charset="-122"/>
                          <a:cs typeface="Calibri" pitchFamily="34" charset="-120"/>
                        </a:rPr>
                        <a:t>Integracion API GW &gt; backend</a:t>
                      </a:r>
                      <a:endParaRPr lang="en-US" sz="1200" dirty="0">
                        <a:latin typeface="Calibri" charset="0"/>
                        <a:ea typeface="Calibri" charset="0"/>
                        <a:cs typeface="Calibri" charset="0"/>
                      </a:endParaRPr>
                    </a:p>
                  </a:txBody>
                  <a:tcPr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marL="0" indent="0" algn="l">
                        <a:buNone/>
                      </a:pPr>
                      <a:r>
                        <a:rPr lang="en-US" sz="1200" b="1" dirty="0">
                          <a:solidFill>
                            <a:srgbClr val="065A82"/>
                          </a:solidFill>
                          <a:latin typeface="Calibri" pitchFamily="34" charset="0"/>
                          <a:ea typeface="Calibri" pitchFamily="34" charset="-122"/>
                          <a:cs typeface="Calibri" pitchFamily="34" charset="-120"/>
                        </a:rPr>
                        <a:t>Directa a SQS (sin Lambda de ingesta)</a:t>
                      </a:r>
                      <a:endParaRPr lang="en-US" sz="1200" dirty="0">
                        <a:latin typeface="Calibri" charset="0"/>
                        <a:ea typeface="Calibri" charset="0"/>
                        <a:cs typeface="Calibri" charset="0"/>
                      </a:endParaRPr>
                    </a:p>
                  </a:txBody>
                  <a:tcPr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marL="0" indent="0" algn="l">
                        <a:buNone/>
                      </a:pPr>
                      <a:r>
                        <a:rPr lang="en-US" sz="1200" dirty="0">
                          <a:solidFill>
                            <a:srgbClr val="0F172A"/>
                          </a:solidFill>
                          <a:latin typeface="Calibri" pitchFamily="34" charset="0"/>
                          <a:ea typeface="Calibri" pitchFamily="34" charset="-122"/>
                          <a:cs typeface="Calibri" pitchFamily="34" charset="-120"/>
                        </a:rPr>
                        <a:t>Elimina un salto, baja 100-200ms; cliente recibe 200 al instante</a:t>
                      </a:r>
                      <a:endParaRPr lang="en-US" sz="1200" dirty="0">
                        <a:latin typeface="Calibri" charset="0"/>
                        <a:ea typeface="Calibri" charset="0"/>
                        <a:cs typeface="Calibri" charset="0"/>
                      </a:endParaRPr>
                    </a:p>
                  </a:txBody>
                  <a:tcPr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2"/>
                  </a:ext>
                </a:extLst>
              </a:tr>
              <a:tr h="868680">
                <a:tc>
                  <a:txBody>
                    <a:bodyPr/>
                    <a:lstStyle/>
                    <a:p>
                      <a:pPr marL="0" indent="0" algn="l">
                        <a:buNone/>
                      </a:pPr>
                      <a:r>
                        <a:rPr lang="en-US" sz="1200" dirty="0">
                          <a:solidFill>
                            <a:srgbClr val="0F172A"/>
                          </a:solidFill>
                          <a:latin typeface="Calibri" pitchFamily="34" charset="0"/>
                          <a:ea typeface="Calibri" pitchFamily="34" charset="-122"/>
                          <a:cs typeface="Calibri" pitchFamily="34" charset="-120"/>
                        </a:rPr>
                        <a:t>Cola de mensajes</a:t>
                      </a:r>
                      <a:endParaRPr lang="en-US" sz="1200" dirty="0">
                        <a:latin typeface="Calibri" charset="0"/>
                        <a:ea typeface="Calibri" charset="0"/>
                        <a:cs typeface="Calibri" charset="0"/>
                      </a:endParaRPr>
                    </a:p>
                  </a:txBody>
                  <a:tcPr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marL="0" indent="0" algn="l">
                        <a:buNone/>
                      </a:pPr>
                      <a:r>
                        <a:rPr lang="en-US" sz="1200" b="1" dirty="0">
                          <a:solidFill>
                            <a:srgbClr val="065A82"/>
                          </a:solidFill>
                          <a:latin typeface="Calibri" pitchFamily="34" charset="0"/>
                          <a:ea typeface="Calibri" pitchFamily="34" charset="-122"/>
                          <a:cs typeface="Calibri" pitchFamily="34" charset="-120"/>
                        </a:rPr>
                        <a:t>SQS Standard (no FIFO)</a:t>
                      </a:r>
                      <a:endParaRPr lang="en-US" sz="1200" dirty="0">
                        <a:latin typeface="Calibri" charset="0"/>
                        <a:ea typeface="Calibri" charset="0"/>
                        <a:cs typeface="Calibri" charset="0"/>
                      </a:endParaRPr>
                    </a:p>
                  </a:txBody>
                  <a:tcPr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marL="0" indent="0" algn="l">
                        <a:buNone/>
                      </a:pPr>
                      <a:r>
                        <a:rPr lang="en-US" sz="1200" dirty="0">
                          <a:solidFill>
                            <a:srgbClr val="0F172A"/>
                          </a:solidFill>
                          <a:latin typeface="Calibri" pitchFamily="34" charset="0"/>
                          <a:ea typeface="Calibri" pitchFamily="34" charset="-122"/>
                          <a:cs typeface="Calibri" pitchFamily="34" charset="-120"/>
                        </a:rPr>
                        <a:t>FIFO limitado a 300 msg/s; Standard tiene throughput ilimitado</a:t>
                      </a:r>
                      <a:endParaRPr lang="en-US" sz="1200" dirty="0">
                        <a:latin typeface="Calibri" charset="0"/>
                        <a:ea typeface="Calibri" charset="0"/>
                        <a:cs typeface="Calibri" charset="0"/>
                      </a:endParaRPr>
                    </a:p>
                  </a:txBody>
                  <a:tcPr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3"/>
                  </a:ext>
                </a:extLst>
              </a:tr>
              <a:tr h="868680">
                <a:tc>
                  <a:txBody>
                    <a:bodyPr/>
                    <a:lstStyle/>
                    <a:p>
                      <a:pPr marL="0" indent="0" algn="l">
                        <a:buNone/>
                      </a:pPr>
                      <a:r>
                        <a:rPr lang="en-US" sz="1200" dirty="0">
                          <a:solidFill>
                            <a:srgbClr val="0F172A"/>
                          </a:solidFill>
                          <a:latin typeface="Calibri" pitchFamily="34" charset="0"/>
                          <a:ea typeface="Calibri" pitchFamily="34" charset="-122"/>
                          <a:cs typeface="Calibri" pitchFamily="34" charset="-120"/>
                        </a:rPr>
                        <a:t>Servicio de envio de correo</a:t>
                      </a:r>
                      <a:endParaRPr lang="en-US" sz="1200" dirty="0">
                        <a:latin typeface="Calibri" charset="0"/>
                        <a:ea typeface="Calibri" charset="0"/>
                        <a:cs typeface="Calibri" charset="0"/>
                      </a:endParaRPr>
                    </a:p>
                  </a:txBody>
                  <a:tcPr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marL="0" indent="0" algn="l">
                        <a:buNone/>
                      </a:pPr>
                      <a:r>
                        <a:rPr lang="en-US" sz="1200" b="1" dirty="0">
                          <a:solidFill>
                            <a:srgbClr val="065A82"/>
                          </a:solidFill>
                          <a:latin typeface="Calibri" pitchFamily="34" charset="0"/>
                          <a:ea typeface="Calibri" pitchFamily="34" charset="-122"/>
                          <a:cs typeface="Calibri" pitchFamily="34" charset="-120"/>
                        </a:rPr>
                        <a:t>Amazon SES</a:t>
                      </a:r>
                      <a:endParaRPr lang="en-US" sz="1200" dirty="0">
                        <a:latin typeface="Calibri" charset="0"/>
                        <a:ea typeface="Calibri" charset="0"/>
                        <a:cs typeface="Calibri" charset="0"/>
                      </a:endParaRPr>
                    </a:p>
                  </a:txBody>
                  <a:tcPr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marL="0" indent="0" algn="l">
                        <a:buNone/>
                      </a:pPr>
                      <a:r>
                        <a:rPr lang="en-US" sz="1200" dirty="0">
                          <a:solidFill>
                            <a:srgbClr val="0F172A"/>
                          </a:solidFill>
                          <a:latin typeface="Calibri" pitchFamily="34" charset="0"/>
                          <a:ea typeface="Calibri" pitchFamily="34" charset="-122"/>
                          <a:cs typeface="Calibri" pitchFamily="34" charset="-120"/>
                        </a:rPr>
                        <a:t>Latencia 1-3s vs 10-30s de SNS email; nativo en AWS</a:t>
                      </a:r>
                      <a:endParaRPr lang="en-US" sz="1200" dirty="0">
                        <a:latin typeface="Calibri" charset="0"/>
                        <a:ea typeface="Calibri" charset="0"/>
                        <a:cs typeface="Calibri" charset="0"/>
                      </a:endParaRPr>
                    </a:p>
                  </a:txBody>
                  <a:tcPr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4"/>
                  </a:ext>
                </a:extLst>
              </a:tr>
              <a:tr h="914400">
                <a:tc>
                  <a:txBody>
                    <a:bodyPr/>
                    <a:lstStyle/>
                    <a:p>
                      <a:pPr marL="0" indent="0" algn="l">
                        <a:buNone/>
                      </a:pPr>
                      <a:r>
                        <a:rPr lang="en-US" sz="1200" dirty="0">
                          <a:solidFill>
                            <a:srgbClr val="0F172A"/>
                          </a:solidFill>
                          <a:latin typeface="Calibri" pitchFamily="34" charset="0"/>
                          <a:ea typeface="Calibri" pitchFamily="34" charset="-122"/>
                          <a:cs typeface="Calibri" pitchFamily="34" charset="-120"/>
                        </a:rPr>
                        <a:t>Limite de 10 procesadores</a:t>
                      </a:r>
                      <a:endParaRPr lang="en-US" sz="1200" dirty="0">
                        <a:latin typeface="Calibri" charset="0"/>
                        <a:ea typeface="Calibri" charset="0"/>
                        <a:cs typeface="Calibri" charset="0"/>
                      </a:endParaRPr>
                    </a:p>
                  </a:txBody>
                  <a:tcPr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marL="0" indent="0" algn="l">
                        <a:buNone/>
                      </a:pPr>
                      <a:r>
                        <a:rPr lang="en-US" sz="1200" b="1" dirty="0">
                          <a:solidFill>
                            <a:srgbClr val="065A82"/>
                          </a:solidFill>
                          <a:latin typeface="Calibri" pitchFamily="34" charset="0"/>
                          <a:ea typeface="Calibri" pitchFamily="34" charset="-122"/>
                          <a:cs typeface="Calibri" pitchFamily="34" charset="-120"/>
                        </a:rPr>
                        <a:t>ESM scaling_config.maximum_concurrency</a:t>
                      </a:r>
                      <a:endParaRPr lang="en-US" sz="1200" dirty="0">
                        <a:latin typeface="Calibri" charset="0"/>
                        <a:ea typeface="Calibri" charset="0"/>
                        <a:cs typeface="Calibri" charset="0"/>
                      </a:endParaRPr>
                    </a:p>
                  </a:txBody>
                  <a:tcPr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marL="0" indent="0" algn="l">
                        <a:buNone/>
                      </a:pPr>
                      <a:r>
                        <a:rPr lang="en-US" sz="1200" dirty="0">
                          <a:solidFill>
                            <a:srgbClr val="0F172A"/>
                          </a:solidFill>
                          <a:latin typeface="Calibri" pitchFamily="34" charset="0"/>
                          <a:ea typeface="Calibri" pitchFamily="34" charset="-122"/>
                          <a:cs typeface="Calibri" pitchFamily="34" charset="-120"/>
                        </a:rPr>
                        <a:t>No usa quota global del account; suficiente porque la Lambda solo se invoca via SQS</a:t>
                      </a:r>
                      <a:endParaRPr lang="en-US" sz="1200" dirty="0">
                        <a:latin typeface="Calibri" charset="0"/>
                        <a:ea typeface="Calibri" charset="0"/>
                        <a:cs typeface="Calibri" charset="0"/>
                      </a:endParaRPr>
                    </a:p>
                  </a:txBody>
                  <a:tcPr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4" name="Text 2"/>
          <p:cNvSpPr/>
          <p:nvPr/>
        </p:nvSpPr>
        <p:spPr>
          <a:xfrm>
            <a:off x="457200" y="6446520"/>
            <a:ext cx="10515600" cy="274320"/>
          </a:xfrm>
          <a:prstGeom prst="rect">
            <a:avLst/>
          </a:prstGeom>
          <a:noFill/>
          <a:ln/>
        </p:spPr>
        <p:txBody>
          <a:bodyPr wrap="square" lIns="0" tIns="0" rIns="0" bIns="0" rtlCol="0" anchor="ctr"/>
          <a:lstStyle/>
          <a:p>
            <a:pPr marL="0" indent="0" algn="l">
              <a:buNone/>
            </a:pPr>
            <a:r>
              <a:rPr lang="en-US" sz="900" dirty="0">
                <a:solidFill>
                  <a:srgbClr val="64748B"/>
                </a:solidFill>
                <a:latin typeface="Calibri" pitchFamily="34" charset="0"/>
                <a:ea typeface="Calibri" pitchFamily="34" charset="-122"/>
                <a:cs typeface="Calibri" pitchFamily="34" charset="-120"/>
              </a:rPr>
              <a:t>Reto 2 - Sistema de Alerta Temprana | Equipo: Padilla / Nieto / Valencia / Bohorquez | 2026-04-27</a:t>
            </a:r>
            <a:endParaRPr lang="en-US" sz="900" dirty="0"/>
          </a:p>
        </p:txBody>
      </p:sp>
      <p:sp>
        <p:nvSpPr>
          <p:cNvPr id="6" name="Text 3"/>
          <p:cNvSpPr/>
          <p:nvPr/>
        </p:nvSpPr>
        <p:spPr>
          <a:xfrm>
            <a:off x="11430000" y="6446520"/>
            <a:ext cx="274320" cy="27432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320040"/>
            <a:ext cx="11247120" cy="640080"/>
          </a:xfrm>
          <a:prstGeom prst="rect">
            <a:avLst/>
          </a:prstGeom>
          <a:noFill/>
          <a:ln/>
        </p:spPr>
        <p:txBody>
          <a:bodyPr wrap="square" lIns="0" tIns="0" rIns="0" bIns="0" rtlCol="0" anchor="ctr"/>
          <a:lstStyle/>
          <a:p>
            <a:pPr marL="0" indent="0" algn="l">
              <a:buNone/>
            </a:pPr>
            <a:r>
              <a:rPr lang="en-US" sz="3200" b="1" dirty="0">
                <a:solidFill>
                  <a:srgbClr val="0F172A"/>
                </a:solidFill>
                <a:latin typeface="Calibri" pitchFamily="34" charset="0"/>
                <a:ea typeface="Calibri" pitchFamily="34" charset="-122"/>
                <a:cs typeface="Calibri" pitchFamily="34" charset="-120"/>
              </a:rPr>
              <a:t>Atributo de calidad #1</a:t>
            </a:r>
            <a:endParaRPr lang="en-US" sz="3200" dirty="0"/>
          </a:p>
        </p:txBody>
      </p:sp>
      <p:sp>
        <p:nvSpPr>
          <p:cNvPr id="3" name="Text 1"/>
          <p:cNvSpPr/>
          <p:nvPr/>
        </p:nvSpPr>
        <p:spPr>
          <a:xfrm>
            <a:off x="457200" y="960120"/>
            <a:ext cx="11247120" cy="365760"/>
          </a:xfrm>
          <a:prstGeom prst="rect">
            <a:avLst/>
          </a:prstGeom>
          <a:noFill/>
          <a:ln/>
        </p:spPr>
        <p:txBody>
          <a:bodyPr wrap="square" lIns="0" tIns="0" rIns="0" bIns="0" rtlCol="0" anchor="ctr"/>
          <a:lstStyle/>
          <a:p>
            <a:pPr marL="0" indent="0" algn="l">
              <a:buNone/>
            </a:pPr>
            <a:r>
              <a:rPr lang="en-US" sz="1400" i="1" dirty="0">
                <a:solidFill>
                  <a:srgbClr val="64748B"/>
                </a:solidFill>
                <a:latin typeface="Calibri" pitchFamily="34" charset="0"/>
                <a:ea typeface="Calibri" pitchFamily="34" charset="-122"/>
                <a:cs typeface="Calibri" pitchFamily="34" charset="-120"/>
              </a:rPr>
              <a:t>Que priorizamos y por que</a:t>
            </a:r>
            <a:endParaRPr lang="en-US" sz="1400" dirty="0"/>
          </a:p>
        </p:txBody>
      </p:sp>
      <p:sp>
        <p:nvSpPr>
          <p:cNvPr id="4" name="Shape 2"/>
          <p:cNvSpPr/>
          <p:nvPr/>
        </p:nvSpPr>
        <p:spPr>
          <a:xfrm>
            <a:off x="457200" y="1554480"/>
            <a:ext cx="4754880" cy="4572000"/>
          </a:xfrm>
          <a:prstGeom prst="rect">
            <a:avLst/>
          </a:prstGeom>
          <a:solidFill>
            <a:srgbClr val="0F172A"/>
          </a:solidFill>
          <a:ln w="12700">
            <a:solidFill>
              <a:srgbClr val="0F172A"/>
            </a:solidFill>
            <a:prstDash val="solid"/>
          </a:ln>
        </p:spPr>
        <p:txBody>
          <a:bodyPr/>
          <a:lstStyle/>
          <a:p>
            <a:endParaRPr lang="en-US"/>
          </a:p>
        </p:txBody>
      </p:sp>
      <p:sp>
        <p:nvSpPr>
          <p:cNvPr id="5" name="Text 3"/>
          <p:cNvSpPr/>
          <p:nvPr/>
        </p:nvSpPr>
        <p:spPr>
          <a:xfrm>
            <a:off x="457200" y="2286000"/>
            <a:ext cx="4754880" cy="1097280"/>
          </a:xfrm>
          <a:prstGeom prst="rect">
            <a:avLst/>
          </a:prstGeom>
          <a:noFill/>
          <a:ln/>
        </p:spPr>
        <p:txBody>
          <a:bodyPr wrap="square" lIns="0" tIns="0" rIns="0" bIns="0" rtlCol="0" anchor="ctr"/>
          <a:lstStyle/>
          <a:p>
            <a:pPr marL="0" indent="0" algn="ctr">
              <a:buNone/>
            </a:pPr>
            <a:r>
              <a:rPr lang="en-US" sz="3600" b="1" dirty="0">
                <a:solidFill>
                  <a:srgbClr val="FFFFFF"/>
                </a:solidFill>
                <a:latin typeface="Calibri" pitchFamily="34" charset="0"/>
                <a:ea typeface="Calibri" pitchFamily="34" charset="-122"/>
                <a:cs typeface="Calibri" pitchFamily="34" charset="-120"/>
              </a:rPr>
              <a:t>PERFORMANCE</a:t>
            </a:r>
            <a:endParaRPr lang="en-US" sz="3600" dirty="0"/>
          </a:p>
        </p:txBody>
      </p:sp>
      <p:sp>
        <p:nvSpPr>
          <p:cNvPr id="6" name="Text 4"/>
          <p:cNvSpPr/>
          <p:nvPr/>
        </p:nvSpPr>
        <p:spPr>
          <a:xfrm>
            <a:off x="457200" y="3383280"/>
            <a:ext cx="4754880" cy="457200"/>
          </a:xfrm>
          <a:prstGeom prst="rect">
            <a:avLst/>
          </a:prstGeom>
          <a:noFill/>
          <a:ln/>
        </p:spPr>
        <p:txBody>
          <a:bodyPr wrap="square" lIns="0" tIns="0" rIns="0" bIns="0" rtlCol="0" anchor="ctr"/>
          <a:lstStyle/>
          <a:p>
            <a:pPr marL="0" indent="0" algn="ctr">
              <a:buNone/>
            </a:pPr>
            <a:r>
              <a:rPr lang="en-US" sz="1600" i="1" dirty="0">
                <a:solidFill>
                  <a:srgbClr val="94A3B8"/>
                </a:solidFill>
                <a:latin typeface="Calibri" pitchFamily="34" charset="0"/>
                <a:ea typeface="Calibri" pitchFamily="34" charset="-122"/>
                <a:cs typeface="Calibri" pitchFamily="34" charset="-120"/>
              </a:rPr>
              <a:t>Latencia de notificacion</a:t>
            </a:r>
            <a:endParaRPr lang="en-US" sz="1600" dirty="0"/>
          </a:p>
        </p:txBody>
      </p:sp>
      <p:sp>
        <p:nvSpPr>
          <p:cNvPr id="7" name="Text 5"/>
          <p:cNvSpPr/>
          <p:nvPr/>
        </p:nvSpPr>
        <p:spPr>
          <a:xfrm>
            <a:off x="457200" y="4206240"/>
            <a:ext cx="4754880" cy="1097280"/>
          </a:xfrm>
          <a:prstGeom prst="rect">
            <a:avLst/>
          </a:prstGeom>
          <a:noFill/>
          <a:ln/>
        </p:spPr>
        <p:txBody>
          <a:bodyPr wrap="square" lIns="0" tIns="0" rIns="0" bIns="0" rtlCol="0" anchor="ctr"/>
          <a:lstStyle/>
          <a:p>
            <a:pPr marL="0" indent="0" algn="ctr">
              <a:buNone/>
            </a:pPr>
            <a:r>
              <a:rPr lang="en-US" sz="6400" b="1" dirty="0">
                <a:solidFill>
                  <a:srgbClr val="60A5FA"/>
                </a:solidFill>
                <a:latin typeface="Calibri" pitchFamily="34" charset="0"/>
                <a:ea typeface="Calibri" pitchFamily="34" charset="-122"/>
                <a:cs typeface="Calibri" pitchFamily="34" charset="-120"/>
              </a:rPr>
              <a:t>&lt; 15s</a:t>
            </a:r>
            <a:endParaRPr lang="en-US" sz="6400" dirty="0"/>
          </a:p>
        </p:txBody>
      </p:sp>
      <p:sp>
        <p:nvSpPr>
          <p:cNvPr id="8" name="Text 6"/>
          <p:cNvSpPr/>
          <p:nvPr/>
        </p:nvSpPr>
        <p:spPr>
          <a:xfrm>
            <a:off x="457200" y="5349240"/>
            <a:ext cx="4754880" cy="365760"/>
          </a:xfrm>
          <a:prstGeom prst="rect">
            <a:avLst/>
          </a:prstGeom>
          <a:noFill/>
          <a:ln/>
        </p:spPr>
        <p:txBody>
          <a:bodyPr wrap="square" lIns="0" tIns="0" rIns="0" bIns="0" rtlCol="0" anchor="ctr"/>
          <a:lstStyle/>
          <a:p>
            <a:pPr marL="0" indent="0" algn="ctr">
              <a:buNone/>
            </a:pPr>
            <a:r>
              <a:rPr lang="en-US" sz="1300" dirty="0">
                <a:solidFill>
                  <a:srgbClr val="CBD5E1"/>
                </a:solidFill>
                <a:latin typeface="Calibri" pitchFamily="34" charset="0"/>
                <a:ea typeface="Calibri" pitchFamily="34" charset="-122"/>
                <a:cs typeface="Calibri" pitchFamily="34" charset="-120"/>
              </a:rPr>
              <a:t>k6 -&gt; Gmail (objetivo 2.5 puntos)</a:t>
            </a:r>
            <a:endParaRPr lang="en-US" sz="1300" dirty="0"/>
          </a:p>
        </p:txBody>
      </p:sp>
      <p:sp>
        <p:nvSpPr>
          <p:cNvPr id="9" name="Text 7"/>
          <p:cNvSpPr/>
          <p:nvPr/>
        </p:nvSpPr>
        <p:spPr>
          <a:xfrm>
            <a:off x="5577840" y="1645920"/>
            <a:ext cx="6126480" cy="457200"/>
          </a:xfrm>
          <a:prstGeom prst="rect">
            <a:avLst/>
          </a:prstGeom>
          <a:noFill/>
          <a:ln/>
        </p:spPr>
        <p:txBody>
          <a:bodyPr wrap="square" lIns="0" tIns="0" rIns="0" bIns="0" rtlCol="0" anchor="ctr"/>
          <a:lstStyle/>
          <a:p>
            <a:pPr marL="0" indent="0">
              <a:buNone/>
            </a:pPr>
            <a:r>
              <a:rPr lang="en-US" sz="2000" b="1" dirty="0">
                <a:solidFill>
                  <a:srgbClr val="0F172A"/>
                </a:solidFill>
                <a:latin typeface="Calibri" pitchFamily="34" charset="0"/>
                <a:ea typeface="Calibri" pitchFamily="34" charset="-122"/>
                <a:cs typeface="Calibri" pitchFamily="34" charset="-120"/>
              </a:rPr>
              <a:t>Por que es el #1</a:t>
            </a:r>
            <a:endParaRPr lang="en-US" sz="2000" dirty="0"/>
          </a:p>
        </p:txBody>
      </p:sp>
      <p:sp>
        <p:nvSpPr>
          <p:cNvPr id="10" name="Text 8"/>
          <p:cNvSpPr/>
          <p:nvPr/>
        </p:nvSpPr>
        <p:spPr>
          <a:xfrm>
            <a:off x="5577840" y="2148840"/>
            <a:ext cx="6126480" cy="1645920"/>
          </a:xfrm>
          <a:prstGeom prst="rect">
            <a:avLst/>
          </a:prstGeom>
          <a:noFill/>
          <a:ln/>
        </p:spPr>
        <p:txBody>
          <a:bodyPr wrap="square" rtlCol="0" anchor="t"/>
          <a:lstStyle/>
          <a:p>
            <a:pPr marL="342900" indent="-342900">
              <a:spcAft>
                <a:spcPts val="800"/>
              </a:spcAft>
              <a:buSzPct val="100000"/>
              <a:buChar char="■"/>
            </a:pPr>
            <a:r>
              <a:rPr lang="en-US" sz="1400" dirty="0">
                <a:solidFill>
                  <a:srgbClr val="0F172A"/>
                </a:solidFill>
                <a:latin typeface="Calibri" pitchFamily="34" charset="0"/>
                <a:ea typeface="Calibri" pitchFamily="34" charset="-122"/>
                <a:cs typeface="Calibri" pitchFamily="34" charset="-120"/>
              </a:rPr>
              <a:t>El 50% del puntaje del reto depende del tiempo de entrega del correo.</a:t>
            </a:r>
            <a:endParaRPr lang="en-US" sz="1400" dirty="0"/>
          </a:p>
          <a:p>
            <a:pPr marL="342900" indent="-342900">
              <a:spcAft>
                <a:spcPts val="800"/>
              </a:spcAft>
              <a:buSzPct val="100000"/>
              <a:buChar char="■"/>
            </a:pPr>
            <a:r>
              <a:rPr lang="en-US" sz="1400" dirty="0">
                <a:solidFill>
                  <a:srgbClr val="0F172A"/>
                </a:solidFill>
                <a:latin typeface="Calibri" pitchFamily="34" charset="0"/>
                <a:ea typeface="Calibri" pitchFamily="34" charset="-122"/>
                <a:cs typeface="Calibri" pitchFamily="34" charset="-120"/>
              </a:rPr>
              <a:t>En sistemas de alerta temprana reales, segundos = vidas o </a:t>
            </a:r>
            <a:r>
              <a:rPr lang="en-US" sz="1400" dirty="0" err="1">
                <a:solidFill>
                  <a:srgbClr val="0F172A"/>
                </a:solidFill>
                <a:latin typeface="Calibri" pitchFamily="34" charset="0"/>
                <a:ea typeface="Calibri" pitchFamily="34" charset="-122"/>
                <a:cs typeface="Calibri" pitchFamily="34" charset="-120"/>
              </a:rPr>
              <a:t>daños</a:t>
            </a:r>
            <a:r>
              <a:rPr lang="en-US" sz="1400" dirty="0">
                <a:solidFill>
                  <a:srgbClr val="0F172A"/>
                </a:solidFill>
                <a:latin typeface="Calibri" pitchFamily="34" charset="0"/>
                <a:ea typeface="Calibri" pitchFamily="34" charset="-122"/>
                <a:cs typeface="Calibri" pitchFamily="34" charset="-120"/>
              </a:rPr>
              <a:t> materiales.</a:t>
            </a:r>
            <a:endParaRPr lang="en-US" sz="1400" dirty="0"/>
          </a:p>
          <a:p>
            <a:pPr marL="342900" indent="-342900">
              <a:spcAft>
                <a:spcPts val="800"/>
              </a:spcAft>
              <a:buSzPct val="100000"/>
              <a:buChar char="■"/>
            </a:pPr>
            <a:r>
              <a:rPr lang="en-US" sz="1400" dirty="0">
                <a:solidFill>
                  <a:srgbClr val="0F172A"/>
                </a:solidFill>
                <a:latin typeface="Calibri" pitchFamily="34" charset="0"/>
                <a:ea typeface="Calibri" pitchFamily="34" charset="-122"/>
                <a:cs typeface="Calibri" pitchFamily="34" charset="-120"/>
              </a:rPr>
              <a:t>La cadena de servicios (API GW &gt; SQS &gt; Lambda &gt; SES &gt; Gmail) suma latencia: cada decision la optimiza.</a:t>
            </a:r>
            <a:endParaRPr lang="en-US" sz="1400" dirty="0"/>
          </a:p>
        </p:txBody>
      </p:sp>
      <p:sp>
        <p:nvSpPr>
          <p:cNvPr id="11" name="Text 9"/>
          <p:cNvSpPr/>
          <p:nvPr/>
        </p:nvSpPr>
        <p:spPr>
          <a:xfrm>
            <a:off x="5577840" y="4023360"/>
            <a:ext cx="6126480" cy="457200"/>
          </a:xfrm>
          <a:prstGeom prst="rect">
            <a:avLst/>
          </a:prstGeom>
          <a:noFill/>
          <a:ln/>
        </p:spPr>
        <p:txBody>
          <a:bodyPr wrap="square" lIns="0" tIns="0" rIns="0" bIns="0" rtlCol="0" anchor="ctr"/>
          <a:lstStyle/>
          <a:p>
            <a:pPr marL="0" indent="0">
              <a:buNone/>
            </a:pPr>
            <a:r>
              <a:rPr lang="en-US" sz="1800" b="1" dirty="0">
                <a:solidFill>
                  <a:srgbClr val="0F172A"/>
                </a:solidFill>
                <a:latin typeface="Calibri" pitchFamily="34" charset="0"/>
                <a:ea typeface="Calibri" pitchFamily="34" charset="-122"/>
                <a:cs typeface="Calibri" pitchFamily="34" charset="-120"/>
              </a:rPr>
              <a:t>Atributos secundarios priorizados</a:t>
            </a:r>
            <a:endParaRPr lang="en-US" sz="1800" dirty="0"/>
          </a:p>
        </p:txBody>
      </p:sp>
      <p:sp>
        <p:nvSpPr>
          <p:cNvPr id="12" name="Text 10"/>
          <p:cNvSpPr/>
          <p:nvPr/>
        </p:nvSpPr>
        <p:spPr>
          <a:xfrm>
            <a:off x="5577840" y="4526280"/>
            <a:ext cx="6126480" cy="1645920"/>
          </a:xfrm>
          <a:prstGeom prst="rect">
            <a:avLst/>
          </a:prstGeom>
          <a:noFill/>
          <a:ln/>
        </p:spPr>
        <p:txBody>
          <a:bodyPr wrap="square" rtlCol="0" anchor="t"/>
          <a:lstStyle/>
          <a:p>
            <a:pPr marL="342900" indent="-342900">
              <a:spcAft>
                <a:spcPts val="600"/>
              </a:spcAft>
              <a:buSzPct val="100000"/>
              <a:buChar char="■"/>
            </a:pPr>
            <a:r>
              <a:rPr lang="en-US" sz="1300" dirty="0">
                <a:solidFill>
                  <a:srgbClr val="0F172A"/>
                </a:solidFill>
                <a:latin typeface="Calibri" pitchFamily="34" charset="0"/>
                <a:ea typeface="Calibri" pitchFamily="34" charset="-122"/>
                <a:cs typeface="Calibri" pitchFamily="34" charset="-120"/>
              </a:rPr>
              <a:t>Reliability - SQS + DLQ + reintentos garantizan 0% perdida.</a:t>
            </a:r>
            <a:endParaRPr lang="en-US" sz="1300" dirty="0"/>
          </a:p>
          <a:p>
            <a:pPr marL="342900" indent="-342900">
              <a:spcAft>
                <a:spcPts val="600"/>
              </a:spcAft>
              <a:buSzPct val="100000"/>
              <a:buChar char="■"/>
            </a:pPr>
            <a:r>
              <a:rPr lang="en-US" sz="1300" dirty="0">
                <a:solidFill>
                  <a:srgbClr val="0F172A"/>
                </a:solidFill>
                <a:latin typeface="Calibri" pitchFamily="34" charset="0"/>
                <a:ea typeface="Calibri" pitchFamily="34" charset="-122"/>
                <a:cs typeface="Calibri" pitchFamily="34" charset="-120"/>
              </a:rPr>
              <a:t>Scalability - Burst de 2000 absorbe el pico inicial sin throttling.</a:t>
            </a:r>
            <a:endParaRPr lang="en-US" sz="1300" dirty="0"/>
          </a:p>
          <a:p>
            <a:pPr marL="342900" indent="-342900">
              <a:spcAft>
                <a:spcPts val="600"/>
              </a:spcAft>
              <a:buSzPct val="100000"/>
              <a:buChar char="■"/>
            </a:pPr>
            <a:r>
              <a:rPr lang="en-US" sz="1300" dirty="0">
                <a:solidFill>
                  <a:srgbClr val="0F172A"/>
                </a:solidFill>
                <a:latin typeface="Calibri" pitchFamily="34" charset="0"/>
                <a:ea typeface="Calibri" pitchFamily="34" charset="-122"/>
                <a:cs typeface="Calibri" pitchFamily="34" charset="-120"/>
              </a:rPr>
              <a:t>Observability - Logs estructurados con timestamps ISO-8601 + alarma DLQ.</a:t>
            </a:r>
            <a:endParaRPr lang="en-US" sz="1300" dirty="0"/>
          </a:p>
        </p:txBody>
      </p:sp>
      <p:sp>
        <p:nvSpPr>
          <p:cNvPr id="13" name="Text 11"/>
          <p:cNvSpPr/>
          <p:nvPr/>
        </p:nvSpPr>
        <p:spPr>
          <a:xfrm>
            <a:off x="457200" y="6446520"/>
            <a:ext cx="10515600" cy="274320"/>
          </a:xfrm>
          <a:prstGeom prst="rect">
            <a:avLst/>
          </a:prstGeom>
          <a:noFill/>
          <a:ln/>
        </p:spPr>
        <p:txBody>
          <a:bodyPr wrap="square" lIns="0" tIns="0" rIns="0" bIns="0" rtlCol="0" anchor="ctr"/>
          <a:lstStyle/>
          <a:p>
            <a:pPr marL="0" indent="0" algn="l">
              <a:buNone/>
            </a:pPr>
            <a:r>
              <a:rPr lang="en-US" sz="900" dirty="0">
                <a:solidFill>
                  <a:srgbClr val="64748B"/>
                </a:solidFill>
                <a:latin typeface="Calibri" pitchFamily="34" charset="0"/>
                <a:ea typeface="Calibri" pitchFamily="34" charset="-122"/>
                <a:cs typeface="Calibri" pitchFamily="34" charset="-120"/>
              </a:rPr>
              <a:t>Reto 2 - Sistema de Alerta Temprana | Equipo: Padilla / Nieto / Valencia / Bohorquez | 2026-04-27</a:t>
            </a:r>
            <a:endParaRPr lang="en-US" sz="900" dirty="0"/>
          </a:p>
        </p:txBody>
      </p:sp>
      <p:sp>
        <p:nvSpPr>
          <p:cNvPr id="14" name="Text 12"/>
          <p:cNvSpPr/>
          <p:nvPr/>
        </p:nvSpPr>
        <p:spPr>
          <a:xfrm>
            <a:off x="11430000" y="6446520"/>
            <a:ext cx="274320" cy="27432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320040"/>
            <a:ext cx="11247120" cy="640080"/>
          </a:xfrm>
          <a:prstGeom prst="rect">
            <a:avLst/>
          </a:prstGeom>
          <a:noFill/>
          <a:ln/>
        </p:spPr>
        <p:txBody>
          <a:bodyPr wrap="square" lIns="0" tIns="0" rIns="0" bIns="0" rtlCol="0" anchor="ctr"/>
          <a:lstStyle/>
          <a:p>
            <a:pPr marL="0" indent="0" algn="l">
              <a:buNone/>
            </a:pPr>
            <a:r>
              <a:rPr lang="en-US" sz="3200" b="1" dirty="0">
                <a:solidFill>
                  <a:srgbClr val="0F172A"/>
                </a:solidFill>
                <a:latin typeface="Calibri" pitchFamily="34" charset="0"/>
                <a:ea typeface="Calibri" pitchFamily="34" charset="-122"/>
                <a:cs typeface="Calibri" pitchFamily="34" charset="-120"/>
              </a:rPr>
              <a:t>Tacticas de arquitectura</a:t>
            </a:r>
            <a:endParaRPr lang="en-US" sz="3200" dirty="0"/>
          </a:p>
        </p:txBody>
      </p:sp>
      <p:sp>
        <p:nvSpPr>
          <p:cNvPr id="3" name="Text 1"/>
          <p:cNvSpPr/>
          <p:nvPr/>
        </p:nvSpPr>
        <p:spPr>
          <a:xfrm>
            <a:off x="457200" y="960120"/>
            <a:ext cx="11247120" cy="365760"/>
          </a:xfrm>
          <a:prstGeom prst="rect">
            <a:avLst/>
          </a:prstGeom>
          <a:noFill/>
          <a:ln/>
        </p:spPr>
        <p:txBody>
          <a:bodyPr wrap="square" lIns="0" tIns="0" rIns="0" bIns="0" rtlCol="0" anchor="ctr"/>
          <a:lstStyle/>
          <a:p>
            <a:pPr marL="0" indent="0" algn="l">
              <a:buNone/>
            </a:pPr>
            <a:r>
              <a:rPr lang="en-US" sz="1400" i="1" dirty="0">
                <a:solidFill>
                  <a:srgbClr val="64748B"/>
                </a:solidFill>
                <a:latin typeface="Calibri" pitchFamily="34" charset="0"/>
                <a:ea typeface="Calibri" pitchFamily="34" charset="-122"/>
                <a:cs typeface="Calibri" pitchFamily="34" charset="-120"/>
              </a:rPr>
              <a:t>Una por categoria SEI - Bass, Clements, Kazman</a:t>
            </a:r>
            <a:endParaRPr lang="en-US" sz="1400" dirty="0"/>
          </a:p>
        </p:txBody>
      </p:sp>
      <p:sp>
        <p:nvSpPr>
          <p:cNvPr id="4" name="Shape 2"/>
          <p:cNvSpPr/>
          <p:nvPr/>
        </p:nvSpPr>
        <p:spPr>
          <a:xfrm>
            <a:off x="502920" y="1691640"/>
            <a:ext cx="5394960" cy="2286000"/>
          </a:xfrm>
          <a:prstGeom prst="rect">
            <a:avLst/>
          </a:prstGeom>
          <a:solidFill>
            <a:srgbClr val="F8FAFC"/>
          </a:solidFill>
          <a:ln w="12700">
            <a:solidFill>
              <a:srgbClr val="E2E8F0"/>
            </a:solidFill>
            <a:prstDash val="solid"/>
          </a:ln>
        </p:spPr>
        <p:txBody>
          <a:bodyPr/>
          <a:lstStyle/>
          <a:p>
            <a:endParaRPr lang="en-US"/>
          </a:p>
        </p:txBody>
      </p:sp>
      <p:sp>
        <p:nvSpPr>
          <p:cNvPr id="5" name="Shape 3"/>
          <p:cNvSpPr/>
          <p:nvPr/>
        </p:nvSpPr>
        <p:spPr>
          <a:xfrm>
            <a:off x="777240" y="1965960"/>
            <a:ext cx="1737360" cy="320040"/>
          </a:xfrm>
          <a:prstGeom prst="rect">
            <a:avLst/>
          </a:prstGeom>
          <a:solidFill>
            <a:srgbClr val="065A82"/>
          </a:solidFill>
          <a:ln w="12700">
            <a:solidFill>
              <a:srgbClr val="065A82"/>
            </a:solidFill>
            <a:prstDash val="solid"/>
          </a:ln>
        </p:spPr>
        <p:txBody>
          <a:bodyPr/>
          <a:lstStyle/>
          <a:p>
            <a:endParaRPr lang="en-US"/>
          </a:p>
        </p:txBody>
      </p:sp>
      <p:sp>
        <p:nvSpPr>
          <p:cNvPr id="6" name="Text 4"/>
          <p:cNvSpPr/>
          <p:nvPr/>
        </p:nvSpPr>
        <p:spPr>
          <a:xfrm>
            <a:off x="777240" y="1965960"/>
            <a:ext cx="1737360" cy="320040"/>
          </a:xfrm>
          <a:prstGeom prst="rect">
            <a:avLst/>
          </a:prstGeom>
          <a:noFill/>
          <a:ln/>
        </p:spPr>
        <p:txBody>
          <a:bodyPr wrap="square" lIns="0" tIns="0" rIns="0" bIns="0" rtlCol="0" anchor="ctr"/>
          <a:lstStyle/>
          <a:p>
            <a:pPr marL="0" indent="0" algn="ctr">
              <a:buNone/>
            </a:pPr>
            <a:r>
              <a:rPr lang="en-US" sz="1000" b="1" kern="0" spc="200" dirty="0">
                <a:solidFill>
                  <a:srgbClr val="FFFFFF"/>
                </a:solidFill>
                <a:latin typeface="Calibri" pitchFamily="34" charset="0"/>
                <a:ea typeface="Calibri" pitchFamily="34" charset="-122"/>
                <a:cs typeface="Calibri" pitchFamily="34" charset="-120"/>
              </a:rPr>
              <a:t>PERFORMANCE</a:t>
            </a:r>
            <a:endParaRPr lang="en-US" sz="1000" dirty="0"/>
          </a:p>
        </p:txBody>
      </p:sp>
      <p:sp>
        <p:nvSpPr>
          <p:cNvPr id="7" name="Text 5"/>
          <p:cNvSpPr/>
          <p:nvPr/>
        </p:nvSpPr>
        <p:spPr>
          <a:xfrm>
            <a:off x="777240" y="2468880"/>
            <a:ext cx="4846320" cy="548640"/>
          </a:xfrm>
          <a:prstGeom prst="rect">
            <a:avLst/>
          </a:prstGeom>
          <a:noFill/>
          <a:ln/>
        </p:spPr>
        <p:txBody>
          <a:bodyPr wrap="square" lIns="0" tIns="0" rIns="0" bIns="0" rtlCol="0" anchor="ctr"/>
          <a:lstStyle/>
          <a:p>
            <a:pPr marL="0" indent="0">
              <a:buNone/>
            </a:pPr>
            <a:r>
              <a:rPr lang="en-US" sz="2000" b="1" dirty="0">
                <a:solidFill>
                  <a:srgbClr val="0F172A"/>
                </a:solidFill>
                <a:latin typeface="Calibri" pitchFamily="34" charset="0"/>
                <a:ea typeface="Calibri" pitchFamily="34" charset="-122"/>
                <a:cs typeface="Calibri" pitchFamily="34" charset="-120"/>
              </a:rPr>
              <a:t>Introduce concurrency</a:t>
            </a:r>
            <a:endParaRPr lang="en-US" sz="2000" dirty="0"/>
          </a:p>
        </p:txBody>
      </p:sp>
      <p:sp>
        <p:nvSpPr>
          <p:cNvPr id="8" name="Text 6"/>
          <p:cNvSpPr/>
          <p:nvPr/>
        </p:nvSpPr>
        <p:spPr>
          <a:xfrm>
            <a:off x="777240" y="3063240"/>
            <a:ext cx="4846320" cy="822960"/>
          </a:xfrm>
          <a:prstGeom prst="rect">
            <a:avLst/>
          </a:prstGeom>
          <a:noFill/>
          <a:ln/>
        </p:spPr>
        <p:txBody>
          <a:bodyPr wrap="square" lIns="0" tIns="0" rIns="0" bIns="0" rtlCol="0" anchor="t"/>
          <a:lstStyle/>
          <a:p>
            <a:pPr marL="0" indent="0">
              <a:buNone/>
            </a:pPr>
            <a:r>
              <a:rPr lang="en-US" sz="1300" dirty="0">
                <a:solidFill>
                  <a:srgbClr val="0F172A"/>
                </a:solidFill>
                <a:latin typeface="Calibri" pitchFamily="34" charset="0"/>
                <a:ea typeface="Calibri" pitchFamily="34" charset="-122"/>
                <a:cs typeface="Calibri" pitchFamily="34" charset="-120"/>
              </a:rPr>
              <a:t>10 instancias de Lambda en paralelo, gobernadas por el Event Source Mapping de SQS. scaling_config.maximum_concurrency = 10.</a:t>
            </a:r>
            <a:endParaRPr lang="en-US" sz="1300" dirty="0"/>
          </a:p>
        </p:txBody>
      </p:sp>
      <p:sp>
        <p:nvSpPr>
          <p:cNvPr id="9" name="Shape 7"/>
          <p:cNvSpPr/>
          <p:nvPr/>
        </p:nvSpPr>
        <p:spPr>
          <a:xfrm>
            <a:off x="6263640" y="1691640"/>
            <a:ext cx="5394960" cy="2286000"/>
          </a:xfrm>
          <a:prstGeom prst="rect">
            <a:avLst/>
          </a:prstGeom>
          <a:solidFill>
            <a:srgbClr val="F8FAFC"/>
          </a:solidFill>
          <a:ln w="12700">
            <a:solidFill>
              <a:srgbClr val="E2E8F0"/>
            </a:solidFill>
            <a:prstDash val="solid"/>
          </a:ln>
        </p:spPr>
        <p:txBody>
          <a:bodyPr/>
          <a:lstStyle/>
          <a:p>
            <a:endParaRPr lang="en-US"/>
          </a:p>
        </p:txBody>
      </p:sp>
      <p:sp>
        <p:nvSpPr>
          <p:cNvPr id="10" name="Shape 8"/>
          <p:cNvSpPr/>
          <p:nvPr/>
        </p:nvSpPr>
        <p:spPr>
          <a:xfrm>
            <a:off x="6537960" y="1965960"/>
            <a:ext cx="1737360" cy="320040"/>
          </a:xfrm>
          <a:prstGeom prst="rect">
            <a:avLst/>
          </a:prstGeom>
          <a:solidFill>
            <a:srgbClr val="16A34A"/>
          </a:solidFill>
          <a:ln w="12700">
            <a:solidFill>
              <a:srgbClr val="16A34A"/>
            </a:solidFill>
            <a:prstDash val="solid"/>
          </a:ln>
        </p:spPr>
        <p:txBody>
          <a:bodyPr/>
          <a:lstStyle/>
          <a:p>
            <a:endParaRPr lang="en-US"/>
          </a:p>
        </p:txBody>
      </p:sp>
      <p:sp>
        <p:nvSpPr>
          <p:cNvPr id="11" name="Text 9"/>
          <p:cNvSpPr/>
          <p:nvPr/>
        </p:nvSpPr>
        <p:spPr>
          <a:xfrm>
            <a:off x="6537960" y="1965960"/>
            <a:ext cx="1737360" cy="320040"/>
          </a:xfrm>
          <a:prstGeom prst="rect">
            <a:avLst/>
          </a:prstGeom>
          <a:noFill/>
          <a:ln/>
        </p:spPr>
        <p:txBody>
          <a:bodyPr wrap="square" lIns="0" tIns="0" rIns="0" bIns="0" rtlCol="0" anchor="ctr"/>
          <a:lstStyle/>
          <a:p>
            <a:pPr marL="0" indent="0" algn="ctr">
              <a:buNone/>
            </a:pPr>
            <a:r>
              <a:rPr lang="en-US" sz="1000" b="1" kern="0" spc="200" dirty="0">
                <a:solidFill>
                  <a:srgbClr val="FFFFFF"/>
                </a:solidFill>
                <a:latin typeface="Calibri" pitchFamily="34" charset="0"/>
                <a:ea typeface="Calibri" pitchFamily="34" charset="-122"/>
                <a:cs typeface="Calibri" pitchFamily="34" charset="-120"/>
              </a:rPr>
              <a:t>AVAILABILITY</a:t>
            </a:r>
            <a:endParaRPr lang="en-US" sz="1000" dirty="0"/>
          </a:p>
        </p:txBody>
      </p:sp>
      <p:sp>
        <p:nvSpPr>
          <p:cNvPr id="12" name="Text 10"/>
          <p:cNvSpPr/>
          <p:nvPr/>
        </p:nvSpPr>
        <p:spPr>
          <a:xfrm>
            <a:off x="6537960" y="2468880"/>
            <a:ext cx="4846320" cy="548640"/>
          </a:xfrm>
          <a:prstGeom prst="rect">
            <a:avLst/>
          </a:prstGeom>
          <a:noFill/>
          <a:ln/>
        </p:spPr>
        <p:txBody>
          <a:bodyPr wrap="square" lIns="0" tIns="0" rIns="0" bIns="0" rtlCol="0" anchor="ctr"/>
          <a:lstStyle/>
          <a:p>
            <a:pPr marL="0" indent="0">
              <a:buNone/>
            </a:pPr>
            <a:r>
              <a:rPr lang="en-US" sz="2000" b="1" dirty="0">
                <a:solidFill>
                  <a:srgbClr val="0F172A"/>
                </a:solidFill>
                <a:latin typeface="Calibri" pitchFamily="34" charset="0"/>
                <a:ea typeface="Calibri" pitchFamily="34" charset="-122"/>
                <a:cs typeface="Calibri" pitchFamily="34" charset="-120"/>
              </a:rPr>
              <a:t>Exception handling / Retry</a:t>
            </a:r>
            <a:endParaRPr lang="en-US" sz="2000" dirty="0"/>
          </a:p>
        </p:txBody>
      </p:sp>
      <p:sp>
        <p:nvSpPr>
          <p:cNvPr id="13" name="Text 11"/>
          <p:cNvSpPr/>
          <p:nvPr/>
        </p:nvSpPr>
        <p:spPr>
          <a:xfrm>
            <a:off x="6537960" y="3063240"/>
            <a:ext cx="4846320" cy="822960"/>
          </a:xfrm>
          <a:prstGeom prst="rect">
            <a:avLst/>
          </a:prstGeom>
          <a:noFill/>
          <a:ln/>
        </p:spPr>
        <p:txBody>
          <a:bodyPr wrap="square" lIns="0" tIns="0" rIns="0" bIns="0" rtlCol="0" anchor="t"/>
          <a:lstStyle/>
          <a:p>
            <a:pPr marL="0" indent="0">
              <a:buNone/>
            </a:pPr>
            <a:r>
              <a:rPr lang="en-US" sz="1300" dirty="0">
                <a:solidFill>
                  <a:srgbClr val="0F172A"/>
                </a:solidFill>
                <a:latin typeface="Calibri" pitchFamily="34" charset="0"/>
                <a:ea typeface="Calibri" pitchFamily="34" charset="-122"/>
                <a:cs typeface="Calibri" pitchFamily="34" charset="-120"/>
              </a:rPr>
              <a:t>ReportBatchItemFailures reintenta solo el mensaje fallido. Tras 3 fallas va a la DLQ. Alarma de CloudWatch sobre la DLQ.</a:t>
            </a:r>
            <a:endParaRPr lang="en-US" sz="1300" dirty="0"/>
          </a:p>
        </p:txBody>
      </p:sp>
      <p:sp>
        <p:nvSpPr>
          <p:cNvPr id="14" name="Shape 12"/>
          <p:cNvSpPr/>
          <p:nvPr/>
        </p:nvSpPr>
        <p:spPr>
          <a:xfrm>
            <a:off x="502920" y="4343400"/>
            <a:ext cx="5394960" cy="2286000"/>
          </a:xfrm>
          <a:prstGeom prst="rect">
            <a:avLst/>
          </a:prstGeom>
          <a:solidFill>
            <a:srgbClr val="F8FAFC"/>
          </a:solidFill>
          <a:ln w="12700">
            <a:solidFill>
              <a:srgbClr val="E2E8F0"/>
            </a:solidFill>
            <a:prstDash val="solid"/>
          </a:ln>
        </p:spPr>
        <p:txBody>
          <a:bodyPr/>
          <a:lstStyle/>
          <a:p>
            <a:endParaRPr lang="en-US"/>
          </a:p>
        </p:txBody>
      </p:sp>
      <p:sp>
        <p:nvSpPr>
          <p:cNvPr id="15" name="Shape 13"/>
          <p:cNvSpPr/>
          <p:nvPr/>
        </p:nvSpPr>
        <p:spPr>
          <a:xfrm>
            <a:off x="777240" y="4617720"/>
            <a:ext cx="1737360" cy="320040"/>
          </a:xfrm>
          <a:prstGeom prst="rect">
            <a:avLst/>
          </a:prstGeom>
          <a:solidFill>
            <a:srgbClr val="1C7293"/>
          </a:solidFill>
          <a:ln w="12700">
            <a:solidFill>
              <a:srgbClr val="1C7293"/>
            </a:solidFill>
            <a:prstDash val="solid"/>
          </a:ln>
        </p:spPr>
        <p:txBody>
          <a:bodyPr/>
          <a:lstStyle/>
          <a:p>
            <a:endParaRPr lang="en-US"/>
          </a:p>
        </p:txBody>
      </p:sp>
      <p:sp>
        <p:nvSpPr>
          <p:cNvPr id="16" name="Text 14"/>
          <p:cNvSpPr/>
          <p:nvPr/>
        </p:nvSpPr>
        <p:spPr>
          <a:xfrm>
            <a:off x="777240" y="4617720"/>
            <a:ext cx="1737360" cy="320040"/>
          </a:xfrm>
          <a:prstGeom prst="rect">
            <a:avLst/>
          </a:prstGeom>
          <a:noFill/>
          <a:ln/>
        </p:spPr>
        <p:txBody>
          <a:bodyPr wrap="square" lIns="0" tIns="0" rIns="0" bIns="0" rtlCol="0" anchor="ctr"/>
          <a:lstStyle/>
          <a:p>
            <a:pPr marL="0" indent="0" algn="ctr">
              <a:buNone/>
            </a:pPr>
            <a:r>
              <a:rPr lang="en-US" sz="1000" b="1" kern="0" spc="200" dirty="0">
                <a:solidFill>
                  <a:srgbClr val="FFFFFF"/>
                </a:solidFill>
                <a:latin typeface="Calibri" pitchFamily="34" charset="0"/>
                <a:ea typeface="Calibri" pitchFamily="34" charset="-122"/>
                <a:cs typeface="Calibri" pitchFamily="34" charset="-120"/>
              </a:rPr>
              <a:t>MODIFIABILITY</a:t>
            </a:r>
            <a:endParaRPr lang="en-US" sz="1000" dirty="0"/>
          </a:p>
        </p:txBody>
      </p:sp>
      <p:sp>
        <p:nvSpPr>
          <p:cNvPr id="17" name="Text 15"/>
          <p:cNvSpPr/>
          <p:nvPr/>
        </p:nvSpPr>
        <p:spPr>
          <a:xfrm>
            <a:off x="777240" y="5120640"/>
            <a:ext cx="4846320" cy="548640"/>
          </a:xfrm>
          <a:prstGeom prst="rect">
            <a:avLst/>
          </a:prstGeom>
          <a:noFill/>
          <a:ln/>
        </p:spPr>
        <p:txBody>
          <a:bodyPr wrap="square" lIns="0" tIns="0" rIns="0" bIns="0" rtlCol="0" anchor="ctr"/>
          <a:lstStyle/>
          <a:p>
            <a:pPr marL="0" indent="0">
              <a:buNone/>
            </a:pPr>
            <a:r>
              <a:rPr lang="en-US" sz="2000" b="1" dirty="0">
                <a:solidFill>
                  <a:srgbClr val="0F172A"/>
                </a:solidFill>
                <a:latin typeface="Calibri" pitchFamily="34" charset="0"/>
                <a:ea typeface="Calibri" pitchFamily="34" charset="-122"/>
                <a:cs typeface="Calibri" pitchFamily="34" charset="-120"/>
              </a:rPr>
              <a:t>Use intermediaries (broker)</a:t>
            </a:r>
            <a:endParaRPr lang="en-US" sz="2000" dirty="0"/>
          </a:p>
        </p:txBody>
      </p:sp>
      <p:sp>
        <p:nvSpPr>
          <p:cNvPr id="18" name="Text 16"/>
          <p:cNvSpPr/>
          <p:nvPr/>
        </p:nvSpPr>
        <p:spPr>
          <a:xfrm>
            <a:off x="777240" y="5715000"/>
            <a:ext cx="4846320" cy="822960"/>
          </a:xfrm>
          <a:prstGeom prst="rect">
            <a:avLst/>
          </a:prstGeom>
          <a:noFill/>
          <a:ln/>
        </p:spPr>
        <p:txBody>
          <a:bodyPr wrap="square" lIns="0" tIns="0" rIns="0" bIns="0" rtlCol="0" anchor="t"/>
          <a:lstStyle/>
          <a:p>
            <a:pPr marL="0" indent="0">
              <a:buNone/>
            </a:pPr>
            <a:r>
              <a:rPr lang="en-US" sz="1300" dirty="0">
                <a:solidFill>
                  <a:srgbClr val="0F172A"/>
                </a:solidFill>
                <a:latin typeface="Calibri" pitchFamily="34" charset="0"/>
                <a:ea typeface="Calibri" pitchFamily="34" charset="-122"/>
                <a:cs typeface="Calibri" pitchFamily="34" charset="-120"/>
              </a:rPr>
              <a:t>SQS desacopla productor y consumidor. Cambiar Lambda por ECS o EC2 no afecta al cliente; el contrato es la cola.</a:t>
            </a:r>
            <a:endParaRPr lang="en-US" sz="1300" dirty="0"/>
          </a:p>
        </p:txBody>
      </p:sp>
      <p:sp>
        <p:nvSpPr>
          <p:cNvPr id="19" name="Shape 17"/>
          <p:cNvSpPr/>
          <p:nvPr/>
        </p:nvSpPr>
        <p:spPr>
          <a:xfrm>
            <a:off x="6263640" y="4343400"/>
            <a:ext cx="5394960" cy="2286000"/>
          </a:xfrm>
          <a:prstGeom prst="rect">
            <a:avLst/>
          </a:prstGeom>
          <a:solidFill>
            <a:srgbClr val="F8FAFC"/>
          </a:solidFill>
          <a:ln w="12700">
            <a:solidFill>
              <a:srgbClr val="E2E8F0"/>
            </a:solidFill>
            <a:prstDash val="solid"/>
          </a:ln>
        </p:spPr>
        <p:txBody>
          <a:bodyPr/>
          <a:lstStyle/>
          <a:p>
            <a:endParaRPr lang="en-US"/>
          </a:p>
        </p:txBody>
      </p:sp>
      <p:sp>
        <p:nvSpPr>
          <p:cNvPr id="20" name="Shape 18"/>
          <p:cNvSpPr/>
          <p:nvPr/>
        </p:nvSpPr>
        <p:spPr>
          <a:xfrm>
            <a:off x="6537960" y="4617720"/>
            <a:ext cx="1737360" cy="320040"/>
          </a:xfrm>
          <a:prstGeom prst="rect">
            <a:avLst/>
          </a:prstGeom>
          <a:solidFill>
            <a:srgbClr val="DC2626"/>
          </a:solidFill>
          <a:ln w="12700">
            <a:solidFill>
              <a:srgbClr val="DC2626"/>
            </a:solidFill>
            <a:prstDash val="solid"/>
          </a:ln>
        </p:spPr>
        <p:txBody>
          <a:bodyPr/>
          <a:lstStyle/>
          <a:p>
            <a:endParaRPr lang="en-US"/>
          </a:p>
        </p:txBody>
      </p:sp>
      <p:sp>
        <p:nvSpPr>
          <p:cNvPr id="21" name="Text 19"/>
          <p:cNvSpPr/>
          <p:nvPr/>
        </p:nvSpPr>
        <p:spPr>
          <a:xfrm>
            <a:off x="6537960" y="4617720"/>
            <a:ext cx="1737360" cy="320040"/>
          </a:xfrm>
          <a:prstGeom prst="rect">
            <a:avLst/>
          </a:prstGeom>
          <a:noFill/>
          <a:ln/>
        </p:spPr>
        <p:txBody>
          <a:bodyPr wrap="square" lIns="0" tIns="0" rIns="0" bIns="0" rtlCol="0" anchor="ctr"/>
          <a:lstStyle/>
          <a:p>
            <a:pPr marL="0" indent="0" algn="ctr">
              <a:buNone/>
            </a:pPr>
            <a:r>
              <a:rPr lang="en-US" sz="1000" b="1" kern="0" spc="200" dirty="0">
                <a:solidFill>
                  <a:srgbClr val="FFFFFF"/>
                </a:solidFill>
                <a:latin typeface="Calibri" pitchFamily="34" charset="0"/>
                <a:ea typeface="Calibri" pitchFamily="34" charset="-122"/>
                <a:cs typeface="Calibri" pitchFamily="34" charset="-120"/>
              </a:rPr>
              <a:t>SECURITY</a:t>
            </a:r>
            <a:endParaRPr lang="en-US" sz="1000" dirty="0"/>
          </a:p>
        </p:txBody>
      </p:sp>
      <p:sp>
        <p:nvSpPr>
          <p:cNvPr id="22" name="Text 20"/>
          <p:cNvSpPr/>
          <p:nvPr/>
        </p:nvSpPr>
        <p:spPr>
          <a:xfrm>
            <a:off x="6537960" y="5120640"/>
            <a:ext cx="4846320" cy="548640"/>
          </a:xfrm>
          <a:prstGeom prst="rect">
            <a:avLst/>
          </a:prstGeom>
          <a:noFill/>
          <a:ln/>
        </p:spPr>
        <p:txBody>
          <a:bodyPr wrap="square" lIns="0" tIns="0" rIns="0" bIns="0" rtlCol="0" anchor="ctr"/>
          <a:lstStyle/>
          <a:p>
            <a:pPr marL="0" indent="0">
              <a:buNone/>
            </a:pPr>
            <a:r>
              <a:rPr lang="en-US" sz="2000" b="1" dirty="0">
                <a:solidFill>
                  <a:srgbClr val="0F172A"/>
                </a:solidFill>
                <a:latin typeface="Calibri" pitchFamily="34" charset="0"/>
                <a:ea typeface="Calibri" pitchFamily="34" charset="-122"/>
                <a:cs typeface="Calibri" pitchFamily="34" charset="-120"/>
              </a:rPr>
              <a:t>Limit access (least privilege)</a:t>
            </a:r>
            <a:endParaRPr lang="en-US" sz="2000" dirty="0"/>
          </a:p>
        </p:txBody>
      </p:sp>
      <p:sp>
        <p:nvSpPr>
          <p:cNvPr id="23" name="Text 21"/>
          <p:cNvSpPr/>
          <p:nvPr/>
        </p:nvSpPr>
        <p:spPr>
          <a:xfrm>
            <a:off x="6537960" y="5715000"/>
            <a:ext cx="4846320" cy="822960"/>
          </a:xfrm>
          <a:prstGeom prst="rect">
            <a:avLst/>
          </a:prstGeom>
          <a:noFill/>
          <a:ln/>
        </p:spPr>
        <p:txBody>
          <a:bodyPr wrap="square" lIns="0" tIns="0" rIns="0" bIns="0" rtlCol="0" anchor="t"/>
          <a:lstStyle/>
          <a:p>
            <a:pPr marL="0" indent="0">
              <a:buNone/>
            </a:pPr>
            <a:r>
              <a:rPr lang="en-US" sz="1300" dirty="0">
                <a:solidFill>
                  <a:srgbClr val="0F172A"/>
                </a:solidFill>
                <a:latin typeface="Calibri" pitchFamily="34" charset="0"/>
                <a:ea typeface="Calibri" pitchFamily="34" charset="-122"/>
                <a:cs typeface="Calibri" pitchFamily="34" charset="-120"/>
              </a:rPr>
              <a:t>Roles IAM minimos: Lambda solo SES SendEmail; API GW solo SQS SendMessage. Endpoint requiere header x-api-key.</a:t>
            </a:r>
            <a:endParaRPr lang="en-US" sz="1300" dirty="0"/>
          </a:p>
        </p:txBody>
      </p:sp>
      <p:sp>
        <p:nvSpPr>
          <p:cNvPr id="24" name="Text 22"/>
          <p:cNvSpPr/>
          <p:nvPr/>
        </p:nvSpPr>
        <p:spPr>
          <a:xfrm>
            <a:off x="457200" y="6446520"/>
            <a:ext cx="10515600" cy="274320"/>
          </a:xfrm>
          <a:prstGeom prst="rect">
            <a:avLst/>
          </a:prstGeom>
          <a:noFill/>
          <a:ln/>
        </p:spPr>
        <p:txBody>
          <a:bodyPr wrap="square" lIns="0" tIns="0" rIns="0" bIns="0" rtlCol="0" anchor="ctr"/>
          <a:lstStyle/>
          <a:p>
            <a:pPr marL="0" indent="0" algn="l">
              <a:buNone/>
            </a:pPr>
            <a:r>
              <a:rPr lang="en-US" sz="900" dirty="0">
                <a:solidFill>
                  <a:srgbClr val="64748B"/>
                </a:solidFill>
                <a:latin typeface="Calibri" pitchFamily="34" charset="0"/>
                <a:ea typeface="Calibri" pitchFamily="34" charset="-122"/>
                <a:cs typeface="Calibri" pitchFamily="34" charset="-120"/>
              </a:rPr>
              <a:t>Reto 2 - Sistema de Alerta Temprana | Equipo: Padilla / Nieto / Valencia / Bohorquez | 2026-04-27</a:t>
            </a:r>
            <a:endParaRPr lang="en-US" sz="900" dirty="0"/>
          </a:p>
        </p:txBody>
      </p:sp>
      <p:sp>
        <p:nvSpPr>
          <p:cNvPr id="25" name="Text 23"/>
          <p:cNvSpPr/>
          <p:nvPr/>
        </p:nvSpPr>
        <p:spPr>
          <a:xfrm>
            <a:off x="11430000" y="6446520"/>
            <a:ext cx="274320" cy="27432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320040"/>
            <a:ext cx="11247120" cy="640080"/>
          </a:xfrm>
          <a:prstGeom prst="rect">
            <a:avLst/>
          </a:prstGeom>
          <a:noFill/>
          <a:ln/>
        </p:spPr>
        <p:txBody>
          <a:bodyPr wrap="square" lIns="0" tIns="0" rIns="0" bIns="0" rtlCol="0" anchor="ctr"/>
          <a:lstStyle/>
          <a:p>
            <a:pPr marL="0" indent="0" algn="l">
              <a:buNone/>
            </a:pPr>
            <a:r>
              <a:rPr lang="en-US" sz="3200" b="1" dirty="0">
                <a:solidFill>
                  <a:srgbClr val="0F172A"/>
                </a:solidFill>
                <a:latin typeface="Calibri" pitchFamily="34" charset="0"/>
                <a:ea typeface="Calibri" pitchFamily="34" charset="-122"/>
                <a:cs typeface="Calibri" pitchFamily="34" charset="-120"/>
              </a:rPr>
              <a:t>Demo en vivo</a:t>
            </a:r>
            <a:endParaRPr lang="en-US" sz="3200" dirty="0"/>
          </a:p>
        </p:txBody>
      </p:sp>
      <p:sp>
        <p:nvSpPr>
          <p:cNvPr id="3" name="Text 1"/>
          <p:cNvSpPr/>
          <p:nvPr/>
        </p:nvSpPr>
        <p:spPr>
          <a:xfrm>
            <a:off x="457200" y="960120"/>
            <a:ext cx="11247120" cy="365760"/>
          </a:xfrm>
          <a:prstGeom prst="rect">
            <a:avLst/>
          </a:prstGeom>
          <a:noFill/>
          <a:ln/>
        </p:spPr>
        <p:txBody>
          <a:bodyPr wrap="square" lIns="0" tIns="0" rIns="0" bIns="0" rtlCol="0" anchor="ctr"/>
          <a:lstStyle/>
          <a:p>
            <a:pPr marL="0" indent="0" algn="l">
              <a:buNone/>
            </a:pPr>
            <a:r>
              <a:rPr lang="en-US" sz="1400" i="1" dirty="0">
                <a:solidFill>
                  <a:srgbClr val="64748B"/>
                </a:solidFill>
                <a:latin typeface="Calibri" pitchFamily="34" charset="0"/>
                <a:ea typeface="Calibri" pitchFamily="34" charset="-122"/>
                <a:cs typeface="Calibri" pitchFamily="34" charset="-120"/>
              </a:rPr>
              <a:t>Ruta del Emergency: del envio en k6 al correo en Gmail</a:t>
            </a:r>
            <a:endParaRPr lang="en-US" sz="1400" dirty="0"/>
          </a:p>
        </p:txBody>
      </p:sp>
      <p:sp>
        <p:nvSpPr>
          <p:cNvPr id="4" name="Shape 2"/>
          <p:cNvSpPr/>
          <p:nvPr/>
        </p:nvSpPr>
        <p:spPr>
          <a:xfrm>
            <a:off x="365760" y="1828800"/>
            <a:ext cx="3657600" cy="2011680"/>
          </a:xfrm>
          <a:prstGeom prst="rect">
            <a:avLst/>
          </a:prstGeom>
          <a:solidFill>
            <a:srgbClr val="FFFFFF"/>
          </a:solidFill>
          <a:ln w="12700">
            <a:solidFill>
              <a:srgbClr val="E2E8F0"/>
            </a:solidFill>
            <a:prstDash val="solid"/>
          </a:ln>
        </p:spPr>
        <p:txBody>
          <a:bodyPr/>
          <a:lstStyle/>
          <a:p>
            <a:endParaRPr lang="en-US"/>
          </a:p>
        </p:txBody>
      </p:sp>
      <p:sp>
        <p:nvSpPr>
          <p:cNvPr id="5" name="Shape 3"/>
          <p:cNvSpPr/>
          <p:nvPr/>
        </p:nvSpPr>
        <p:spPr>
          <a:xfrm>
            <a:off x="640080" y="2103120"/>
            <a:ext cx="640080" cy="640080"/>
          </a:xfrm>
          <a:prstGeom prst="ellipse">
            <a:avLst/>
          </a:prstGeom>
          <a:solidFill>
            <a:srgbClr val="2563EB"/>
          </a:solidFill>
          <a:ln w="12700">
            <a:solidFill>
              <a:srgbClr val="2563EB"/>
            </a:solidFill>
            <a:prstDash val="solid"/>
          </a:ln>
        </p:spPr>
        <p:txBody>
          <a:bodyPr/>
          <a:lstStyle/>
          <a:p>
            <a:endParaRPr lang="en-US"/>
          </a:p>
        </p:txBody>
      </p:sp>
      <p:sp>
        <p:nvSpPr>
          <p:cNvPr id="6" name="Text 4"/>
          <p:cNvSpPr/>
          <p:nvPr/>
        </p:nvSpPr>
        <p:spPr>
          <a:xfrm>
            <a:off x="640080" y="2103120"/>
            <a:ext cx="640080" cy="640080"/>
          </a:xfrm>
          <a:prstGeom prst="rect">
            <a:avLst/>
          </a:prstGeom>
          <a:noFill/>
          <a:ln/>
        </p:spPr>
        <p:txBody>
          <a:bodyPr wrap="square" lIns="0" tIns="0" rIns="0" bIns="0" rtlCol="0" anchor="ctr"/>
          <a:lstStyle/>
          <a:p>
            <a:pPr marL="0" indent="0" algn="ctr">
              <a:buNone/>
            </a:pPr>
            <a:r>
              <a:rPr lang="en-US" sz="2200" b="1" dirty="0">
                <a:solidFill>
                  <a:srgbClr val="FFFFFF"/>
                </a:solidFill>
                <a:latin typeface="Calibri" pitchFamily="34" charset="0"/>
                <a:ea typeface="Calibri" pitchFamily="34" charset="-122"/>
                <a:cs typeface="Calibri" pitchFamily="34" charset="-120"/>
              </a:rPr>
              <a:t>1</a:t>
            </a:r>
            <a:endParaRPr lang="en-US" sz="2200" dirty="0"/>
          </a:p>
        </p:txBody>
      </p:sp>
      <p:sp>
        <p:nvSpPr>
          <p:cNvPr id="7" name="Text 5"/>
          <p:cNvSpPr/>
          <p:nvPr/>
        </p:nvSpPr>
        <p:spPr>
          <a:xfrm>
            <a:off x="1463040" y="2103120"/>
            <a:ext cx="2377440" cy="1554480"/>
          </a:xfrm>
          <a:prstGeom prst="rect">
            <a:avLst/>
          </a:prstGeom>
          <a:noFill/>
          <a:ln/>
        </p:spPr>
        <p:txBody>
          <a:bodyPr wrap="square" lIns="0" tIns="0" rIns="0" bIns="0" rtlCol="0" anchor="t"/>
          <a:lstStyle/>
          <a:p>
            <a:pPr marL="0" indent="0">
              <a:buNone/>
            </a:pPr>
            <a:r>
              <a:rPr lang="en-US" sz="1400" dirty="0">
                <a:solidFill>
                  <a:srgbClr val="0F172A"/>
                </a:solidFill>
                <a:latin typeface="Calibri" pitchFamily="34" charset="0"/>
                <a:ea typeface="Calibri" pitchFamily="34" charset="-122"/>
                <a:cs typeface="Calibri" pitchFamily="34" charset="-120"/>
              </a:rPr>
              <a:t>Mostrar Gmail vacio - busqueda subject:Alerta #</a:t>
            </a:r>
            <a:endParaRPr lang="en-US" sz="1400" dirty="0"/>
          </a:p>
        </p:txBody>
      </p:sp>
      <p:sp>
        <p:nvSpPr>
          <p:cNvPr id="8" name="Shape 6"/>
          <p:cNvSpPr/>
          <p:nvPr/>
        </p:nvSpPr>
        <p:spPr>
          <a:xfrm>
            <a:off x="4251960" y="1828800"/>
            <a:ext cx="3657600" cy="2011680"/>
          </a:xfrm>
          <a:prstGeom prst="rect">
            <a:avLst/>
          </a:prstGeom>
          <a:solidFill>
            <a:srgbClr val="FFFFFF"/>
          </a:solidFill>
          <a:ln w="12700">
            <a:solidFill>
              <a:srgbClr val="E2E8F0"/>
            </a:solidFill>
            <a:prstDash val="solid"/>
          </a:ln>
        </p:spPr>
        <p:txBody>
          <a:bodyPr/>
          <a:lstStyle/>
          <a:p>
            <a:endParaRPr lang="en-US"/>
          </a:p>
        </p:txBody>
      </p:sp>
      <p:sp>
        <p:nvSpPr>
          <p:cNvPr id="9" name="Shape 7"/>
          <p:cNvSpPr/>
          <p:nvPr/>
        </p:nvSpPr>
        <p:spPr>
          <a:xfrm>
            <a:off x="4526280" y="2103120"/>
            <a:ext cx="640080" cy="640080"/>
          </a:xfrm>
          <a:prstGeom prst="ellipse">
            <a:avLst/>
          </a:prstGeom>
          <a:solidFill>
            <a:srgbClr val="2563EB"/>
          </a:solidFill>
          <a:ln w="12700">
            <a:solidFill>
              <a:srgbClr val="2563EB"/>
            </a:solidFill>
            <a:prstDash val="solid"/>
          </a:ln>
        </p:spPr>
        <p:txBody>
          <a:bodyPr/>
          <a:lstStyle/>
          <a:p>
            <a:endParaRPr lang="en-US"/>
          </a:p>
        </p:txBody>
      </p:sp>
      <p:sp>
        <p:nvSpPr>
          <p:cNvPr id="10" name="Text 8"/>
          <p:cNvSpPr/>
          <p:nvPr/>
        </p:nvSpPr>
        <p:spPr>
          <a:xfrm>
            <a:off x="4526280" y="2103120"/>
            <a:ext cx="640080" cy="640080"/>
          </a:xfrm>
          <a:prstGeom prst="rect">
            <a:avLst/>
          </a:prstGeom>
          <a:noFill/>
          <a:ln/>
        </p:spPr>
        <p:txBody>
          <a:bodyPr wrap="square" lIns="0" tIns="0" rIns="0" bIns="0" rtlCol="0" anchor="ctr"/>
          <a:lstStyle/>
          <a:p>
            <a:pPr marL="0" indent="0" algn="ctr">
              <a:buNone/>
            </a:pPr>
            <a:r>
              <a:rPr lang="en-US" sz="2200" b="1" dirty="0">
                <a:solidFill>
                  <a:srgbClr val="FFFFFF"/>
                </a:solidFill>
                <a:latin typeface="Calibri" pitchFamily="34" charset="0"/>
                <a:ea typeface="Calibri" pitchFamily="34" charset="-122"/>
                <a:cs typeface="Calibri" pitchFamily="34" charset="-120"/>
              </a:rPr>
              <a:t>2</a:t>
            </a:r>
            <a:endParaRPr lang="en-US" sz="2200" dirty="0"/>
          </a:p>
        </p:txBody>
      </p:sp>
      <p:sp>
        <p:nvSpPr>
          <p:cNvPr id="11" name="Text 9"/>
          <p:cNvSpPr/>
          <p:nvPr/>
        </p:nvSpPr>
        <p:spPr>
          <a:xfrm>
            <a:off x="5349240" y="2103120"/>
            <a:ext cx="2377440" cy="1554480"/>
          </a:xfrm>
          <a:prstGeom prst="rect">
            <a:avLst/>
          </a:prstGeom>
          <a:noFill/>
          <a:ln/>
        </p:spPr>
        <p:txBody>
          <a:bodyPr wrap="square" lIns="0" tIns="0" rIns="0" bIns="0" rtlCol="0" anchor="t"/>
          <a:lstStyle/>
          <a:p>
            <a:pPr marL="0" indent="0">
              <a:buNone/>
            </a:pPr>
            <a:r>
              <a:rPr lang="en-US" sz="1400" dirty="0">
                <a:solidFill>
                  <a:srgbClr val="0F172A"/>
                </a:solidFill>
                <a:latin typeface="Calibri" pitchFamily="34" charset="0"/>
                <a:ea typeface="Calibri" pitchFamily="34" charset="-122"/>
                <a:cs typeface="Calibri" pitchFamily="34" charset="-120"/>
              </a:rPr>
              <a:t>Correr k6 con EMERGENCY_MODE=single (solo iter 1000)</a:t>
            </a:r>
            <a:endParaRPr lang="en-US" sz="1400" dirty="0"/>
          </a:p>
        </p:txBody>
      </p:sp>
      <p:sp>
        <p:nvSpPr>
          <p:cNvPr id="12" name="Shape 10"/>
          <p:cNvSpPr/>
          <p:nvPr/>
        </p:nvSpPr>
        <p:spPr>
          <a:xfrm>
            <a:off x="8138160" y="1828800"/>
            <a:ext cx="3657600" cy="2011680"/>
          </a:xfrm>
          <a:prstGeom prst="rect">
            <a:avLst/>
          </a:prstGeom>
          <a:solidFill>
            <a:srgbClr val="FFFFFF"/>
          </a:solidFill>
          <a:ln w="12700">
            <a:solidFill>
              <a:srgbClr val="E2E8F0"/>
            </a:solidFill>
            <a:prstDash val="solid"/>
          </a:ln>
        </p:spPr>
        <p:txBody>
          <a:bodyPr/>
          <a:lstStyle/>
          <a:p>
            <a:endParaRPr lang="en-US"/>
          </a:p>
        </p:txBody>
      </p:sp>
      <p:sp>
        <p:nvSpPr>
          <p:cNvPr id="13" name="Shape 11"/>
          <p:cNvSpPr/>
          <p:nvPr/>
        </p:nvSpPr>
        <p:spPr>
          <a:xfrm>
            <a:off x="8412480" y="2103120"/>
            <a:ext cx="640080" cy="640080"/>
          </a:xfrm>
          <a:prstGeom prst="ellipse">
            <a:avLst/>
          </a:prstGeom>
          <a:solidFill>
            <a:srgbClr val="2563EB"/>
          </a:solidFill>
          <a:ln w="12700">
            <a:solidFill>
              <a:srgbClr val="2563EB"/>
            </a:solidFill>
            <a:prstDash val="solid"/>
          </a:ln>
        </p:spPr>
        <p:txBody>
          <a:bodyPr/>
          <a:lstStyle/>
          <a:p>
            <a:endParaRPr lang="en-US"/>
          </a:p>
        </p:txBody>
      </p:sp>
      <p:sp>
        <p:nvSpPr>
          <p:cNvPr id="14" name="Text 12"/>
          <p:cNvSpPr/>
          <p:nvPr/>
        </p:nvSpPr>
        <p:spPr>
          <a:xfrm>
            <a:off x="8412480" y="2103120"/>
            <a:ext cx="640080" cy="640080"/>
          </a:xfrm>
          <a:prstGeom prst="rect">
            <a:avLst/>
          </a:prstGeom>
          <a:noFill/>
          <a:ln/>
        </p:spPr>
        <p:txBody>
          <a:bodyPr wrap="square" lIns="0" tIns="0" rIns="0" bIns="0" rtlCol="0" anchor="ctr"/>
          <a:lstStyle/>
          <a:p>
            <a:pPr marL="0" indent="0" algn="ctr">
              <a:buNone/>
            </a:pPr>
            <a:r>
              <a:rPr lang="en-US" sz="2200" b="1" dirty="0">
                <a:solidFill>
                  <a:srgbClr val="FFFFFF"/>
                </a:solidFill>
                <a:latin typeface="Calibri" pitchFamily="34" charset="0"/>
                <a:ea typeface="Calibri" pitchFamily="34" charset="-122"/>
                <a:cs typeface="Calibri" pitchFamily="34" charset="-120"/>
              </a:rPr>
              <a:t>3</a:t>
            </a:r>
            <a:endParaRPr lang="en-US" sz="2200" dirty="0"/>
          </a:p>
        </p:txBody>
      </p:sp>
      <p:sp>
        <p:nvSpPr>
          <p:cNvPr id="15" name="Text 13"/>
          <p:cNvSpPr/>
          <p:nvPr/>
        </p:nvSpPr>
        <p:spPr>
          <a:xfrm>
            <a:off x="9235440" y="2103120"/>
            <a:ext cx="2377440" cy="1554480"/>
          </a:xfrm>
          <a:prstGeom prst="rect">
            <a:avLst/>
          </a:prstGeom>
          <a:noFill/>
          <a:ln/>
        </p:spPr>
        <p:txBody>
          <a:bodyPr wrap="square" lIns="0" tIns="0" rIns="0" bIns="0" rtlCol="0" anchor="t"/>
          <a:lstStyle/>
          <a:p>
            <a:pPr marL="0" indent="0">
              <a:buNone/>
            </a:pPr>
            <a:r>
              <a:rPr lang="en-US" sz="1400" dirty="0">
                <a:solidFill>
                  <a:srgbClr val="0F172A"/>
                </a:solidFill>
                <a:latin typeface="Calibri" pitchFamily="34" charset="0"/>
                <a:ea typeface="Calibri" pitchFamily="34" charset="-122"/>
                <a:cs typeface="Calibri" pitchFamily="34" charset="-120"/>
              </a:rPr>
              <a:t>k6 reporta 1000/1000 OK, 0% fallos en ~11s</a:t>
            </a:r>
            <a:endParaRPr lang="en-US" sz="1400" dirty="0"/>
          </a:p>
        </p:txBody>
      </p:sp>
      <p:sp>
        <p:nvSpPr>
          <p:cNvPr id="16" name="Shape 14"/>
          <p:cNvSpPr/>
          <p:nvPr/>
        </p:nvSpPr>
        <p:spPr>
          <a:xfrm>
            <a:off x="365760" y="4069080"/>
            <a:ext cx="3657600" cy="2011680"/>
          </a:xfrm>
          <a:prstGeom prst="rect">
            <a:avLst/>
          </a:prstGeom>
          <a:solidFill>
            <a:srgbClr val="FFFFFF"/>
          </a:solidFill>
          <a:ln w="12700">
            <a:solidFill>
              <a:srgbClr val="E2E8F0"/>
            </a:solidFill>
            <a:prstDash val="solid"/>
          </a:ln>
        </p:spPr>
        <p:txBody>
          <a:bodyPr/>
          <a:lstStyle/>
          <a:p>
            <a:endParaRPr lang="en-US"/>
          </a:p>
        </p:txBody>
      </p:sp>
      <p:sp>
        <p:nvSpPr>
          <p:cNvPr id="17" name="Shape 15"/>
          <p:cNvSpPr/>
          <p:nvPr/>
        </p:nvSpPr>
        <p:spPr>
          <a:xfrm>
            <a:off x="640080" y="4343400"/>
            <a:ext cx="640080" cy="640080"/>
          </a:xfrm>
          <a:prstGeom prst="ellipse">
            <a:avLst/>
          </a:prstGeom>
          <a:solidFill>
            <a:srgbClr val="2563EB"/>
          </a:solidFill>
          <a:ln w="12700">
            <a:solidFill>
              <a:srgbClr val="2563EB"/>
            </a:solidFill>
            <a:prstDash val="solid"/>
          </a:ln>
        </p:spPr>
        <p:txBody>
          <a:bodyPr/>
          <a:lstStyle/>
          <a:p>
            <a:endParaRPr lang="en-US"/>
          </a:p>
        </p:txBody>
      </p:sp>
      <p:sp>
        <p:nvSpPr>
          <p:cNvPr id="18" name="Text 16"/>
          <p:cNvSpPr/>
          <p:nvPr/>
        </p:nvSpPr>
        <p:spPr>
          <a:xfrm>
            <a:off x="640080" y="4343400"/>
            <a:ext cx="640080" cy="640080"/>
          </a:xfrm>
          <a:prstGeom prst="rect">
            <a:avLst/>
          </a:prstGeom>
          <a:noFill/>
          <a:ln/>
        </p:spPr>
        <p:txBody>
          <a:bodyPr wrap="square" lIns="0" tIns="0" rIns="0" bIns="0" rtlCol="0" anchor="ctr"/>
          <a:lstStyle/>
          <a:p>
            <a:pPr marL="0" indent="0" algn="ctr">
              <a:buNone/>
            </a:pPr>
            <a:r>
              <a:rPr lang="en-US" sz="2200" b="1" dirty="0">
                <a:solidFill>
                  <a:srgbClr val="FFFFFF"/>
                </a:solidFill>
                <a:latin typeface="Calibri" pitchFamily="34" charset="0"/>
                <a:ea typeface="Calibri" pitchFamily="34" charset="-122"/>
                <a:cs typeface="Calibri" pitchFamily="34" charset="-120"/>
              </a:rPr>
              <a:t>4</a:t>
            </a:r>
            <a:endParaRPr lang="en-US" sz="2200" dirty="0"/>
          </a:p>
        </p:txBody>
      </p:sp>
      <p:sp>
        <p:nvSpPr>
          <p:cNvPr id="19" name="Text 17"/>
          <p:cNvSpPr/>
          <p:nvPr/>
        </p:nvSpPr>
        <p:spPr>
          <a:xfrm>
            <a:off x="1463040" y="4343400"/>
            <a:ext cx="2377440" cy="1554480"/>
          </a:xfrm>
          <a:prstGeom prst="rect">
            <a:avLst/>
          </a:prstGeom>
          <a:noFill/>
          <a:ln/>
        </p:spPr>
        <p:txBody>
          <a:bodyPr wrap="square" lIns="0" tIns="0" rIns="0" bIns="0" rtlCol="0" anchor="t"/>
          <a:lstStyle/>
          <a:p>
            <a:pPr marL="0" indent="0">
              <a:buNone/>
            </a:pPr>
            <a:r>
              <a:rPr lang="en-US" sz="1400" dirty="0">
                <a:solidFill>
                  <a:srgbClr val="0F172A"/>
                </a:solidFill>
                <a:latin typeface="Calibri" pitchFamily="34" charset="0"/>
                <a:ea typeface="Calibri" pitchFamily="34" charset="-122"/>
                <a:cs typeface="Calibri" pitchFamily="34" charset="-120"/>
              </a:rPr>
              <a:t>CloudWatch Live Tail: [EMERGENCY_RECEIVED] y [EMAIL_SENT]</a:t>
            </a:r>
            <a:endParaRPr lang="en-US" sz="1400" dirty="0"/>
          </a:p>
        </p:txBody>
      </p:sp>
      <p:sp>
        <p:nvSpPr>
          <p:cNvPr id="20" name="Shape 18"/>
          <p:cNvSpPr/>
          <p:nvPr/>
        </p:nvSpPr>
        <p:spPr>
          <a:xfrm>
            <a:off x="4251960" y="4069080"/>
            <a:ext cx="3657600" cy="2011680"/>
          </a:xfrm>
          <a:prstGeom prst="rect">
            <a:avLst/>
          </a:prstGeom>
          <a:solidFill>
            <a:srgbClr val="FFFFFF"/>
          </a:solidFill>
          <a:ln w="12700">
            <a:solidFill>
              <a:srgbClr val="E2E8F0"/>
            </a:solidFill>
            <a:prstDash val="solid"/>
          </a:ln>
        </p:spPr>
        <p:txBody>
          <a:bodyPr/>
          <a:lstStyle/>
          <a:p>
            <a:endParaRPr lang="en-US"/>
          </a:p>
        </p:txBody>
      </p:sp>
      <p:sp>
        <p:nvSpPr>
          <p:cNvPr id="21" name="Shape 19"/>
          <p:cNvSpPr/>
          <p:nvPr/>
        </p:nvSpPr>
        <p:spPr>
          <a:xfrm>
            <a:off x="4526280" y="4343400"/>
            <a:ext cx="640080" cy="640080"/>
          </a:xfrm>
          <a:prstGeom prst="ellipse">
            <a:avLst/>
          </a:prstGeom>
          <a:solidFill>
            <a:srgbClr val="2563EB"/>
          </a:solidFill>
          <a:ln w="12700">
            <a:solidFill>
              <a:srgbClr val="2563EB"/>
            </a:solidFill>
            <a:prstDash val="solid"/>
          </a:ln>
        </p:spPr>
        <p:txBody>
          <a:bodyPr/>
          <a:lstStyle/>
          <a:p>
            <a:endParaRPr lang="en-US"/>
          </a:p>
        </p:txBody>
      </p:sp>
      <p:sp>
        <p:nvSpPr>
          <p:cNvPr id="22" name="Text 20"/>
          <p:cNvSpPr/>
          <p:nvPr/>
        </p:nvSpPr>
        <p:spPr>
          <a:xfrm>
            <a:off x="4526280" y="4343400"/>
            <a:ext cx="640080" cy="640080"/>
          </a:xfrm>
          <a:prstGeom prst="rect">
            <a:avLst/>
          </a:prstGeom>
          <a:noFill/>
          <a:ln/>
        </p:spPr>
        <p:txBody>
          <a:bodyPr wrap="square" lIns="0" tIns="0" rIns="0" bIns="0" rtlCol="0" anchor="ctr"/>
          <a:lstStyle/>
          <a:p>
            <a:pPr marL="0" indent="0" algn="ctr">
              <a:buNone/>
            </a:pPr>
            <a:r>
              <a:rPr lang="en-US" sz="2200" b="1" dirty="0">
                <a:solidFill>
                  <a:srgbClr val="FFFFFF"/>
                </a:solidFill>
                <a:latin typeface="Calibri" pitchFamily="34" charset="0"/>
                <a:ea typeface="Calibri" pitchFamily="34" charset="-122"/>
                <a:cs typeface="Calibri" pitchFamily="34" charset="-120"/>
              </a:rPr>
              <a:t>5</a:t>
            </a:r>
            <a:endParaRPr lang="en-US" sz="2200" dirty="0"/>
          </a:p>
        </p:txBody>
      </p:sp>
      <p:sp>
        <p:nvSpPr>
          <p:cNvPr id="23" name="Text 21"/>
          <p:cNvSpPr/>
          <p:nvPr/>
        </p:nvSpPr>
        <p:spPr>
          <a:xfrm>
            <a:off x="5349240" y="4343400"/>
            <a:ext cx="2377440" cy="1554480"/>
          </a:xfrm>
          <a:prstGeom prst="rect">
            <a:avLst/>
          </a:prstGeom>
          <a:noFill/>
          <a:ln/>
        </p:spPr>
        <p:txBody>
          <a:bodyPr wrap="square" lIns="0" tIns="0" rIns="0" bIns="0" rtlCol="0" anchor="t"/>
          <a:lstStyle/>
          <a:p>
            <a:pPr marL="0" indent="0">
              <a:buNone/>
            </a:pPr>
            <a:r>
              <a:rPr lang="en-US" sz="1400" dirty="0">
                <a:solidFill>
                  <a:srgbClr val="0F172A"/>
                </a:solidFill>
                <a:latin typeface="Calibri" pitchFamily="34" charset="0"/>
                <a:ea typeface="Calibri" pitchFamily="34" charset="-122"/>
                <a:cs typeface="Calibri" pitchFamily="34" charset="-120"/>
              </a:rPr>
              <a:t>Abrir el correo en Gmail con subject Alerta #1000/1000</a:t>
            </a:r>
            <a:endParaRPr lang="en-US" sz="1400" dirty="0"/>
          </a:p>
        </p:txBody>
      </p:sp>
      <p:sp>
        <p:nvSpPr>
          <p:cNvPr id="24" name="Shape 22"/>
          <p:cNvSpPr/>
          <p:nvPr/>
        </p:nvSpPr>
        <p:spPr>
          <a:xfrm>
            <a:off x="8138160" y="4069080"/>
            <a:ext cx="3657600" cy="2011680"/>
          </a:xfrm>
          <a:prstGeom prst="rect">
            <a:avLst/>
          </a:prstGeom>
          <a:solidFill>
            <a:srgbClr val="FFFFFF"/>
          </a:solidFill>
          <a:ln w="12700">
            <a:solidFill>
              <a:srgbClr val="E2E8F0"/>
            </a:solidFill>
            <a:prstDash val="solid"/>
          </a:ln>
        </p:spPr>
        <p:txBody>
          <a:bodyPr/>
          <a:lstStyle/>
          <a:p>
            <a:endParaRPr lang="en-US"/>
          </a:p>
        </p:txBody>
      </p:sp>
      <p:sp>
        <p:nvSpPr>
          <p:cNvPr id="25" name="Shape 23"/>
          <p:cNvSpPr/>
          <p:nvPr/>
        </p:nvSpPr>
        <p:spPr>
          <a:xfrm>
            <a:off x="8412480" y="4343400"/>
            <a:ext cx="640080" cy="640080"/>
          </a:xfrm>
          <a:prstGeom prst="ellipse">
            <a:avLst/>
          </a:prstGeom>
          <a:solidFill>
            <a:srgbClr val="2563EB"/>
          </a:solidFill>
          <a:ln w="12700">
            <a:solidFill>
              <a:srgbClr val="2563EB"/>
            </a:solidFill>
            <a:prstDash val="solid"/>
          </a:ln>
        </p:spPr>
        <p:txBody>
          <a:bodyPr/>
          <a:lstStyle/>
          <a:p>
            <a:endParaRPr lang="en-US"/>
          </a:p>
        </p:txBody>
      </p:sp>
      <p:sp>
        <p:nvSpPr>
          <p:cNvPr id="26" name="Text 24"/>
          <p:cNvSpPr/>
          <p:nvPr/>
        </p:nvSpPr>
        <p:spPr>
          <a:xfrm>
            <a:off x="8412480" y="4343400"/>
            <a:ext cx="640080" cy="640080"/>
          </a:xfrm>
          <a:prstGeom prst="rect">
            <a:avLst/>
          </a:prstGeom>
          <a:noFill/>
          <a:ln/>
        </p:spPr>
        <p:txBody>
          <a:bodyPr wrap="square" lIns="0" tIns="0" rIns="0" bIns="0" rtlCol="0" anchor="ctr"/>
          <a:lstStyle/>
          <a:p>
            <a:pPr marL="0" indent="0" algn="ctr">
              <a:buNone/>
            </a:pPr>
            <a:r>
              <a:rPr lang="en-US" sz="2200" b="1" dirty="0">
                <a:solidFill>
                  <a:srgbClr val="FFFFFF"/>
                </a:solidFill>
                <a:latin typeface="Calibri" pitchFamily="34" charset="0"/>
                <a:ea typeface="Calibri" pitchFamily="34" charset="-122"/>
                <a:cs typeface="Calibri" pitchFamily="34" charset="-120"/>
              </a:rPr>
              <a:t>6</a:t>
            </a:r>
            <a:endParaRPr lang="en-US" sz="2200" dirty="0"/>
          </a:p>
        </p:txBody>
      </p:sp>
      <p:sp>
        <p:nvSpPr>
          <p:cNvPr id="27" name="Text 25"/>
          <p:cNvSpPr/>
          <p:nvPr/>
        </p:nvSpPr>
        <p:spPr>
          <a:xfrm>
            <a:off x="9235440" y="4343400"/>
            <a:ext cx="2377440" cy="1554480"/>
          </a:xfrm>
          <a:prstGeom prst="rect">
            <a:avLst/>
          </a:prstGeom>
          <a:noFill/>
          <a:ln/>
        </p:spPr>
        <p:txBody>
          <a:bodyPr wrap="square" lIns="0" tIns="0" rIns="0" bIns="0" rtlCol="0" anchor="t"/>
          <a:lstStyle/>
          <a:p>
            <a:pPr marL="0" indent="0">
              <a:buNone/>
            </a:pPr>
            <a:r>
              <a:rPr lang="en-US" sz="1400" dirty="0">
                <a:solidFill>
                  <a:srgbClr val="0F172A"/>
                </a:solidFill>
                <a:latin typeface="Calibri" pitchFamily="34" charset="0"/>
                <a:ea typeface="Calibri" pitchFamily="34" charset="-122"/>
                <a:cs typeface="Calibri" pitchFamily="34" charset="-120"/>
              </a:rPr>
              <a:t>Calcular delta: Gmail Date - sent_at &lt; 15s</a:t>
            </a:r>
            <a:endParaRPr lang="en-US" sz="1400" dirty="0"/>
          </a:p>
        </p:txBody>
      </p:sp>
      <p:sp>
        <p:nvSpPr>
          <p:cNvPr id="28" name="Shape 26"/>
          <p:cNvSpPr/>
          <p:nvPr/>
        </p:nvSpPr>
        <p:spPr>
          <a:xfrm>
            <a:off x="457200" y="5943600"/>
            <a:ext cx="11247120" cy="411480"/>
          </a:xfrm>
          <a:prstGeom prst="rect">
            <a:avLst/>
          </a:prstGeom>
          <a:solidFill>
            <a:srgbClr val="16A34A"/>
          </a:solidFill>
          <a:ln w="12700">
            <a:solidFill>
              <a:srgbClr val="16A34A"/>
            </a:solidFill>
            <a:prstDash val="solid"/>
          </a:ln>
        </p:spPr>
        <p:txBody>
          <a:bodyPr/>
          <a:lstStyle/>
          <a:p>
            <a:endParaRPr lang="en-US"/>
          </a:p>
        </p:txBody>
      </p:sp>
      <p:sp>
        <p:nvSpPr>
          <p:cNvPr id="29" name="Text 27"/>
          <p:cNvSpPr/>
          <p:nvPr/>
        </p:nvSpPr>
        <p:spPr>
          <a:xfrm>
            <a:off x="457200" y="5943600"/>
            <a:ext cx="11247120" cy="411480"/>
          </a:xfrm>
          <a:prstGeom prst="rect">
            <a:avLst/>
          </a:prstGeom>
          <a:noFill/>
          <a:ln/>
        </p:spPr>
        <p:txBody>
          <a:bodyPr wrap="square" lIns="0" tIns="0" rIns="0" bIns="0" rtlCol="0" anchor="ctr"/>
          <a:lstStyle/>
          <a:p>
            <a:pPr marL="0" indent="0" algn="ctr">
              <a:buNone/>
            </a:pPr>
            <a:r>
              <a:rPr lang="en-US" sz="1200" i="1" dirty="0">
                <a:solidFill>
                  <a:srgbClr val="FFFFFF"/>
                </a:solidFill>
                <a:latin typeface="Calibri" pitchFamily="34" charset="0"/>
                <a:ea typeface="Calibri" pitchFamily="34" charset="-122"/>
                <a:cs typeface="Calibri" pitchFamily="34" charset="-120"/>
              </a:rPr>
              <a:t>Truco: la iter 1000 es el UNICO Emergency, asi el ultimo envio en k6 ES la emergencia que medimos</a:t>
            </a:r>
            <a:endParaRPr lang="en-US" sz="1200" dirty="0"/>
          </a:p>
        </p:txBody>
      </p:sp>
      <p:sp>
        <p:nvSpPr>
          <p:cNvPr id="30" name="Text 28"/>
          <p:cNvSpPr/>
          <p:nvPr/>
        </p:nvSpPr>
        <p:spPr>
          <a:xfrm>
            <a:off x="457200" y="6446520"/>
            <a:ext cx="10515600" cy="274320"/>
          </a:xfrm>
          <a:prstGeom prst="rect">
            <a:avLst/>
          </a:prstGeom>
          <a:noFill/>
          <a:ln/>
        </p:spPr>
        <p:txBody>
          <a:bodyPr wrap="square" lIns="0" tIns="0" rIns="0" bIns="0" rtlCol="0" anchor="ctr"/>
          <a:lstStyle/>
          <a:p>
            <a:pPr marL="0" indent="0" algn="l">
              <a:buNone/>
            </a:pPr>
            <a:r>
              <a:rPr lang="en-US" sz="900" dirty="0">
                <a:solidFill>
                  <a:srgbClr val="64748B"/>
                </a:solidFill>
                <a:latin typeface="Calibri" pitchFamily="34" charset="0"/>
                <a:ea typeface="Calibri" pitchFamily="34" charset="-122"/>
                <a:cs typeface="Calibri" pitchFamily="34" charset="-120"/>
              </a:rPr>
              <a:t>Reto 2 - Sistema de Alerta Temprana | Equipo: Padilla / Nieto / Valencia / Bohorquez | 2026-04-27</a:t>
            </a:r>
            <a:endParaRPr lang="en-US" sz="900" dirty="0"/>
          </a:p>
        </p:txBody>
      </p:sp>
      <p:sp>
        <p:nvSpPr>
          <p:cNvPr id="31" name="Text 29"/>
          <p:cNvSpPr/>
          <p:nvPr/>
        </p:nvSpPr>
        <p:spPr>
          <a:xfrm>
            <a:off x="11430000" y="6446520"/>
            <a:ext cx="274320" cy="27432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320040"/>
            <a:ext cx="11247120" cy="640080"/>
          </a:xfrm>
          <a:prstGeom prst="rect">
            <a:avLst/>
          </a:prstGeom>
          <a:noFill/>
          <a:ln/>
        </p:spPr>
        <p:txBody>
          <a:bodyPr wrap="square" lIns="0" tIns="0" rIns="0" bIns="0" rtlCol="0" anchor="ctr"/>
          <a:lstStyle/>
          <a:p>
            <a:pPr marL="0" indent="0" algn="l">
              <a:buNone/>
            </a:pPr>
            <a:r>
              <a:rPr lang="en-US" sz="3200" b="1" dirty="0">
                <a:solidFill>
                  <a:srgbClr val="0F172A"/>
                </a:solidFill>
                <a:latin typeface="Calibri" pitchFamily="34" charset="0"/>
                <a:ea typeface="Calibri" pitchFamily="34" charset="-122"/>
                <a:cs typeface="Calibri" pitchFamily="34" charset="-120"/>
              </a:rPr>
              <a:t>Resultados medidos</a:t>
            </a:r>
            <a:endParaRPr lang="en-US" sz="3200" dirty="0"/>
          </a:p>
        </p:txBody>
      </p:sp>
      <p:sp>
        <p:nvSpPr>
          <p:cNvPr id="3" name="Text 1"/>
          <p:cNvSpPr/>
          <p:nvPr/>
        </p:nvSpPr>
        <p:spPr>
          <a:xfrm>
            <a:off x="457200" y="960120"/>
            <a:ext cx="11247120" cy="365760"/>
          </a:xfrm>
          <a:prstGeom prst="rect">
            <a:avLst/>
          </a:prstGeom>
          <a:noFill/>
          <a:ln/>
        </p:spPr>
        <p:txBody>
          <a:bodyPr wrap="square" lIns="0" tIns="0" rIns="0" bIns="0" rtlCol="0" anchor="ctr"/>
          <a:lstStyle/>
          <a:p>
            <a:pPr marL="0" indent="0" algn="l">
              <a:buNone/>
            </a:pPr>
            <a:r>
              <a:rPr lang="en-US" sz="1400" i="1" dirty="0">
                <a:solidFill>
                  <a:srgbClr val="64748B"/>
                </a:solidFill>
                <a:latin typeface="Calibri" pitchFamily="34" charset="0"/>
                <a:ea typeface="Calibri" pitchFamily="34" charset="-122"/>
                <a:cs typeface="Calibri" pitchFamily="34" charset="-120"/>
              </a:rPr>
              <a:t>Test del 2026-04-27 sobre el endpoint de produccion</a:t>
            </a:r>
            <a:endParaRPr lang="en-US" sz="1400" dirty="0"/>
          </a:p>
        </p:txBody>
      </p:sp>
      <p:sp>
        <p:nvSpPr>
          <p:cNvPr id="4" name="Shape 2"/>
          <p:cNvSpPr/>
          <p:nvPr/>
        </p:nvSpPr>
        <p:spPr>
          <a:xfrm>
            <a:off x="320040" y="1828800"/>
            <a:ext cx="3657600" cy="2926080"/>
          </a:xfrm>
          <a:prstGeom prst="rect">
            <a:avLst/>
          </a:prstGeom>
          <a:solidFill>
            <a:srgbClr val="F8FAFC"/>
          </a:solidFill>
          <a:ln w="12700">
            <a:solidFill>
              <a:srgbClr val="E2E8F0"/>
            </a:solidFill>
            <a:prstDash val="solid"/>
          </a:ln>
        </p:spPr>
        <p:txBody>
          <a:bodyPr/>
          <a:lstStyle/>
          <a:p>
            <a:endParaRPr lang="en-US"/>
          </a:p>
        </p:txBody>
      </p:sp>
      <p:sp>
        <p:nvSpPr>
          <p:cNvPr id="5" name="Shape 3"/>
          <p:cNvSpPr/>
          <p:nvPr/>
        </p:nvSpPr>
        <p:spPr>
          <a:xfrm>
            <a:off x="320040" y="1828800"/>
            <a:ext cx="3657600" cy="109728"/>
          </a:xfrm>
          <a:prstGeom prst="rect">
            <a:avLst/>
          </a:prstGeom>
          <a:solidFill>
            <a:srgbClr val="065A82"/>
          </a:solidFill>
          <a:ln w="12700">
            <a:solidFill>
              <a:srgbClr val="065A82"/>
            </a:solidFill>
            <a:prstDash val="solid"/>
          </a:ln>
        </p:spPr>
        <p:txBody>
          <a:bodyPr/>
          <a:lstStyle/>
          <a:p>
            <a:endParaRPr lang="en-US"/>
          </a:p>
        </p:txBody>
      </p:sp>
      <p:sp>
        <p:nvSpPr>
          <p:cNvPr id="6" name="Text 4"/>
          <p:cNvSpPr/>
          <p:nvPr/>
        </p:nvSpPr>
        <p:spPr>
          <a:xfrm>
            <a:off x="320040" y="2286000"/>
            <a:ext cx="3657600" cy="1097280"/>
          </a:xfrm>
          <a:prstGeom prst="rect">
            <a:avLst/>
          </a:prstGeom>
          <a:noFill/>
          <a:ln/>
        </p:spPr>
        <p:txBody>
          <a:bodyPr wrap="square" lIns="0" tIns="0" rIns="0" bIns="0" rtlCol="0" anchor="ctr"/>
          <a:lstStyle/>
          <a:p>
            <a:pPr marL="0" indent="0" algn="ctr">
              <a:buNone/>
            </a:pPr>
            <a:r>
              <a:rPr lang="en-US" sz="4800" b="1" dirty="0">
                <a:solidFill>
                  <a:srgbClr val="065A82"/>
                </a:solidFill>
                <a:latin typeface="Calibri" pitchFamily="34" charset="0"/>
                <a:ea typeface="Calibri" pitchFamily="34" charset="-122"/>
                <a:cs typeface="Calibri" pitchFamily="34" charset="-120"/>
              </a:rPr>
              <a:t>1000/1000</a:t>
            </a:r>
            <a:endParaRPr lang="en-US" sz="4800" dirty="0"/>
          </a:p>
        </p:txBody>
      </p:sp>
      <p:sp>
        <p:nvSpPr>
          <p:cNvPr id="7" name="Text 5"/>
          <p:cNvSpPr/>
          <p:nvPr/>
        </p:nvSpPr>
        <p:spPr>
          <a:xfrm>
            <a:off x="594360" y="3520440"/>
            <a:ext cx="3108960" cy="457200"/>
          </a:xfrm>
          <a:prstGeom prst="rect">
            <a:avLst/>
          </a:prstGeom>
          <a:noFill/>
          <a:ln/>
        </p:spPr>
        <p:txBody>
          <a:bodyPr wrap="square" lIns="0" tIns="0" rIns="0" bIns="0" rtlCol="0" anchor="ctr"/>
          <a:lstStyle/>
          <a:p>
            <a:pPr marL="0" indent="0" algn="ctr">
              <a:buNone/>
            </a:pPr>
            <a:r>
              <a:rPr lang="en-US" sz="1600" b="1" dirty="0">
                <a:solidFill>
                  <a:srgbClr val="0F172A"/>
                </a:solidFill>
                <a:latin typeface="Calibri" pitchFamily="34" charset="0"/>
                <a:ea typeface="Calibri" pitchFamily="34" charset="-122"/>
                <a:cs typeface="Calibri" pitchFamily="34" charset="-120"/>
              </a:rPr>
              <a:t>Requests procesadas en k6</a:t>
            </a:r>
            <a:endParaRPr lang="en-US" sz="1600" dirty="0"/>
          </a:p>
        </p:txBody>
      </p:sp>
      <p:sp>
        <p:nvSpPr>
          <p:cNvPr id="8" name="Text 6"/>
          <p:cNvSpPr/>
          <p:nvPr/>
        </p:nvSpPr>
        <p:spPr>
          <a:xfrm>
            <a:off x="594360" y="4023360"/>
            <a:ext cx="3108960" cy="502920"/>
          </a:xfrm>
          <a:prstGeom prst="rect">
            <a:avLst/>
          </a:prstGeom>
          <a:noFill/>
          <a:ln/>
        </p:spPr>
        <p:txBody>
          <a:bodyPr wrap="square" lIns="0" tIns="0" rIns="0" bIns="0" rtlCol="0" anchor="ctr"/>
          <a:lstStyle/>
          <a:p>
            <a:pPr marL="0" indent="0" algn="ctr">
              <a:buNone/>
            </a:pPr>
            <a:r>
              <a:rPr lang="en-US" sz="1200" i="1" dirty="0">
                <a:solidFill>
                  <a:srgbClr val="64748B"/>
                </a:solidFill>
                <a:latin typeface="Calibri" pitchFamily="34" charset="0"/>
                <a:ea typeface="Calibri" pitchFamily="34" charset="-122"/>
                <a:cs typeface="Calibri" pitchFamily="34" charset="-120"/>
              </a:rPr>
              <a:t>0% fallos | 11.0s totales</a:t>
            </a:r>
            <a:endParaRPr lang="en-US" sz="1200" dirty="0"/>
          </a:p>
        </p:txBody>
      </p:sp>
      <p:sp>
        <p:nvSpPr>
          <p:cNvPr id="9" name="Shape 7"/>
          <p:cNvSpPr/>
          <p:nvPr/>
        </p:nvSpPr>
        <p:spPr>
          <a:xfrm>
            <a:off x="4251960" y="1828800"/>
            <a:ext cx="3657600" cy="2926080"/>
          </a:xfrm>
          <a:prstGeom prst="rect">
            <a:avLst/>
          </a:prstGeom>
          <a:solidFill>
            <a:srgbClr val="F8FAFC"/>
          </a:solidFill>
          <a:ln w="12700">
            <a:solidFill>
              <a:srgbClr val="E2E8F0"/>
            </a:solidFill>
            <a:prstDash val="solid"/>
          </a:ln>
        </p:spPr>
        <p:txBody>
          <a:bodyPr/>
          <a:lstStyle/>
          <a:p>
            <a:endParaRPr lang="en-US"/>
          </a:p>
        </p:txBody>
      </p:sp>
      <p:sp>
        <p:nvSpPr>
          <p:cNvPr id="10" name="Shape 8"/>
          <p:cNvSpPr/>
          <p:nvPr/>
        </p:nvSpPr>
        <p:spPr>
          <a:xfrm>
            <a:off x="4251960" y="1828800"/>
            <a:ext cx="3657600" cy="109728"/>
          </a:xfrm>
          <a:prstGeom prst="rect">
            <a:avLst/>
          </a:prstGeom>
          <a:solidFill>
            <a:srgbClr val="1C7293"/>
          </a:solidFill>
          <a:ln w="12700">
            <a:solidFill>
              <a:srgbClr val="1C7293"/>
            </a:solidFill>
            <a:prstDash val="solid"/>
          </a:ln>
        </p:spPr>
        <p:txBody>
          <a:bodyPr/>
          <a:lstStyle/>
          <a:p>
            <a:endParaRPr lang="en-US"/>
          </a:p>
        </p:txBody>
      </p:sp>
      <p:sp>
        <p:nvSpPr>
          <p:cNvPr id="11" name="Text 9"/>
          <p:cNvSpPr/>
          <p:nvPr/>
        </p:nvSpPr>
        <p:spPr>
          <a:xfrm>
            <a:off x="4251960" y="2286000"/>
            <a:ext cx="3657600" cy="1097280"/>
          </a:xfrm>
          <a:prstGeom prst="rect">
            <a:avLst/>
          </a:prstGeom>
          <a:noFill/>
          <a:ln/>
        </p:spPr>
        <p:txBody>
          <a:bodyPr wrap="square" lIns="0" tIns="0" rIns="0" bIns="0" rtlCol="0" anchor="ctr"/>
          <a:lstStyle/>
          <a:p>
            <a:pPr marL="0" indent="0" algn="ctr">
              <a:buNone/>
            </a:pPr>
            <a:r>
              <a:rPr lang="en-US" sz="4800" b="1" dirty="0">
                <a:solidFill>
                  <a:srgbClr val="1C7293"/>
                </a:solidFill>
                <a:latin typeface="Calibri" pitchFamily="34" charset="0"/>
                <a:ea typeface="Calibri" pitchFamily="34" charset="-122"/>
                <a:cs typeface="Calibri" pitchFamily="34" charset="-120"/>
              </a:rPr>
              <a:t>254 ms</a:t>
            </a:r>
            <a:endParaRPr lang="en-US" sz="4800" dirty="0"/>
          </a:p>
        </p:txBody>
      </p:sp>
      <p:sp>
        <p:nvSpPr>
          <p:cNvPr id="12" name="Text 10"/>
          <p:cNvSpPr/>
          <p:nvPr/>
        </p:nvSpPr>
        <p:spPr>
          <a:xfrm>
            <a:off x="4526280" y="3520440"/>
            <a:ext cx="3108960" cy="457200"/>
          </a:xfrm>
          <a:prstGeom prst="rect">
            <a:avLst/>
          </a:prstGeom>
          <a:noFill/>
          <a:ln/>
        </p:spPr>
        <p:txBody>
          <a:bodyPr wrap="square" lIns="0" tIns="0" rIns="0" bIns="0" rtlCol="0" anchor="ctr"/>
          <a:lstStyle/>
          <a:p>
            <a:pPr marL="0" indent="0" algn="ctr">
              <a:buNone/>
            </a:pPr>
            <a:r>
              <a:rPr lang="en-US" sz="1600" b="1" dirty="0">
                <a:solidFill>
                  <a:srgbClr val="0F172A"/>
                </a:solidFill>
                <a:latin typeface="Calibri" pitchFamily="34" charset="0"/>
                <a:ea typeface="Calibri" pitchFamily="34" charset="-122"/>
                <a:cs typeface="Calibri" pitchFamily="34" charset="-120"/>
              </a:rPr>
              <a:t>Lambda recibe -&gt; SES acepta</a:t>
            </a:r>
            <a:endParaRPr lang="en-US" sz="1600" dirty="0"/>
          </a:p>
        </p:txBody>
      </p:sp>
      <p:sp>
        <p:nvSpPr>
          <p:cNvPr id="13" name="Text 11"/>
          <p:cNvSpPr/>
          <p:nvPr/>
        </p:nvSpPr>
        <p:spPr>
          <a:xfrm>
            <a:off x="4526280" y="4023360"/>
            <a:ext cx="3108960" cy="502920"/>
          </a:xfrm>
          <a:prstGeom prst="rect">
            <a:avLst/>
          </a:prstGeom>
          <a:noFill/>
          <a:ln/>
        </p:spPr>
        <p:txBody>
          <a:bodyPr wrap="square" lIns="0" tIns="0" rIns="0" bIns="0" rtlCol="0" anchor="ctr"/>
          <a:lstStyle/>
          <a:p>
            <a:pPr marL="0" indent="0" algn="ctr">
              <a:buNone/>
            </a:pPr>
            <a:r>
              <a:rPr lang="en-US" sz="1200" i="1" dirty="0">
                <a:solidFill>
                  <a:srgbClr val="64748B"/>
                </a:solidFill>
                <a:latin typeface="Calibri" pitchFamily="34" charset="0"/>
                <a:ea typeface="Calibri" pitchFamily="34" charset="-122"/>
                <a:cs typeface="Calibri" pitchFamily="34" charset="-120"/>
              </a:rPr>
              <a:t>Medido server-side (sin drift)</a:t>
            </a:r>
            <a:endParaRPr lang="en-US" sz="1200" dirty="0"/>
          </a:p>
        </p:txBody>
      </p:sp>
      <p:sp>
        <p:nvSpPr>
          <p:cNvPr id="14" name="Shape 12"/>
          <p:cNvSpPr/>
          <p:nvPr/>
        </p:nvSpPr>
        <p:spPr>
          <a:xfrm>
            <a:off x="8183880" y="1828800"/>
            <a:ext cx="3657600" cy="2926080"/>
          </a:xfrm>
          <a:prstGeom prst="rect">
            <a:avLst/>
          </a:prstGeom>
          <a:solidFill>
            <a:srgbClr val="F8FAFC"/>
          </a:solidFill>
          <a:ln w="12700">
            <a:solidFill>
              <a:srgbClr val="E2E8F0"/>
            </a:solidFill>
            <a:prstDash val="solid"/>
          </a:ln>
        </p:spPr>
        <p:txBody>
          <a:bodyPr/>
          <a:lstStyle/>
          <a:p>
            <a:endParaRPr lang="en-US"/>
          </a:p>
        </p:txBody>
      </p:sp>
      <p:sp>
        <p:nvSpPr>
          <p:cNvPr id="15" name="Shape 13"/>
          <p:cNvSpPr/>
          <p:nvPr/>
        </p:nvSpPr>
        <p:spPr>
          <a:xfrm>
            <a:off x="8183880" y="1828800"/>
            <a:ext cx="3657600" cy="109728"/>
          </a:xfrm>
          <a:prstGeom prst="rect">
            <a:avLst/>
          </a:prstGeom>
          <a:solidFill>
            <a:srgbClr val="16A34A"/>
          </a:solidFill>
          <a:ln w="12700">
            <a:solidFill>
              <a:srgbClr val="16A34A"/>
            </a:solidFill>
            <a:prstDash val="solid"/>
          </a:ln>
        </p:spPr>
        <p:txBody>
          <a:bodyPr/>
          <a:lstStyle/>
          <a:p>
            <a:endParaRPr lang="en-US"/>
          </a:p>
        </p:txBody>
      </p:sp>
      <p:sp>
        <p:nvSpPr>
          <p:cNvPr id="16" name="Text 14"/>
          <p:cNvSpPr/>
          <p:nvPr/>
        </p:nvSpPr>
        <p:spPr>
          <a:xfrm>
            <a:off x="8183880" y="2286000"/>
            <a:ext cx="3657600" cy="1097280"/>
          </a:xfrm>
          <a:prstGeom prst="rect">
            <a:avLst/>
          </a:prstGeom>
          <a:noFill/>
          <a:ln/>
        </p:spPr>
        <p:txBody>
          <a:bodyPr wrap="square" lIns="0" tIns="0" rIns="0" bIns="0" rtlCol="0" anchor="ctr"/>
          <a:lstStyle/>
          <a:p>
            <a:pPr marL="0" indent="0" algn="ctr">
              <a:buNone/>
            </a:pPr>
            <a:r>
              <a:rPr lang="en-US" sz="4800" b="1" dirty="0">
                <a:solidFill>
                  <a:srgbClr val="16A34A"/>
                </a:solidFill>
                <a:latin typeface="Calibri" pitchFamily="34" charset="0"/>
                <a:ea typeface="Calibri" pitchFamily="34" charset="-122"/>
                <a:cs typeface="Calibri" pitchFamily="34" charset="-120"/>
              </a:rPr>
              <a:t>&lt; 15 s</a:t>
            </a:r>
            <a:endParaRPr lang="en-US" sz="4800" dirty="0"/>
          </a:p>
        </p:txBody>
      </p:sp>
      <p:sp>
        <p:nvSpPr>
          <p:cNvPr id="17" name="Text 15"/>
          <p:cNvSpPr/>
          <p:nvPr/>
        </p:nvSpPr>
        <p:spPr>
          <a:xfrm>
            <a:off x="8458200" y="3520440"/>
            <a:ext cx="3108960" cy="457200"/>
          </a:xfrm>
          <a:prstGeom prst="rect">
            <a:avLst/>
          </a:prstGeom>
          <a:noFill/>
          <a:ln/>
        </p:spPr>
        <p:txBody>
          <a:bodyPr wrap="square" lIns="0" tIns="0" rIns="0" bIns="0" rtlCol="0" anchor="ctr"/>
          <a:lstStyle/>
          <a:p>
            <a:pPr marL="0" indent="0" algn="ctr">
              <a:buNone/>
            </a:pPr>
            <a:r>
              <a:rPr lang="en-US" sz="1600" b="1" dirty="0">
                <a:solidFill>
                  <a:srgbClr val="0F172A"/>
                </a:solidFill>
                <a:latin typeface="Calibri" pitchFamily="34" charset="0"/>
                <a:ea typeface="Calibri" pitchFamily="34" charset="-122"/>
                <a:cs typeface="Calibri" pitchFamily="34" charset="-120"/>
              </a:rPr>
              <a:t>Total estimado k6 -&gt; Gmail</a:t>
            </a:r>
            <a:endParaRPr lang="en-US" sz="1600" dirty="0"/>
          </a:p>
        </p:txBody>
      </p:sp>
      <p:sp>
        <p:nvSpPr>
          <p:cNvPr id="18" name="Text 16"/>
          <p:cNvSpPr/>
          <p:nvPr/>
        </p:nvSpPr>
        <p:spPr>
          <a:xfrm>
            <a:off x="8458200" y="4023360"/>
            <a:ext cx="3108960" cy="502920"/>
          </a:xfrm>
          <a:prstGeom prst="rect">
            <a:avLst/>
          </a:prstGeom>
          <a:noFill/>
          <a:ln/>
        </p:spPr>
        <p:txBody>
          <a:bodyPr wrap="square" lIns="0" tIns="0" rIns="0" bIns="0" rtlCol="0" anchor="ctr"/>
          <a:lstStyle/>
          <a:p>
            <a:pPr marL="0" indent="0" algn="ctr">
              <a:buNone/>
            </a:pPr>
            <a:r>
              <a:rPr lang="en-US" sz="1200" i="1" dirty="0">
                <a:solidFill>
                  <a:srgbClr val="64748B"/>
                </a:solidFill>
                <a:latin typeface="Calibri" pitchFamily="34" charset="0"/>
                <a:ea typeface="Calibri" pitchFamily="34" charset="-122"/>
                <a:cs typeface="Calibri" pitchFamily="34" charset="-120"/>
              </a:rPr>
              <a:t>1.5 - 3.5 s reales | 2.5 puntos</a:t>
            </a:r>
            <a:endParaRPr lang="en-US" sz="1200" dirty="0"/>
          </a:p>
        </p:txBody>
      </p:sp>
      <p:sp>
        <p:nvSpPr>
          <p:cNvPr id="19" name="Shape 17"/>
          <p:cNvSpPr/>
          <p:nvPr/>
        </p:nvSpPr>
        <p:spPr>
          <a:xfrm>
            <a:off x="457200" y="5120640"/>
            <a:ext cx="11247120" cy="1188720"/>
          </a:xfrm>
          <a:prstGeom prst="rect">
            <a:avLst/>
          </a:prstGeom>
          <a:solidFill>
            <a:srgbClr val="0F172A"/>
          </a:solidFill>
          <a:ln w="12700">
            <a:solidFill>
              <a:srgbClr val="0F172A"/>
            </a:solidFill>
            <a:prstDash val="solid"/>
          </a:ln>
        </p:spPr>
        <p:txBody>
          <a:bodyPr/>
          <a:lstStyle/>
          <a:p>
            <a:endParaRPr lang="en-US"/>
          </a:p>
        </p:txBody>
      </p:sp>
      <p:sp>
        <p:nvSpPr>
          <p:cNvPr id="20" name="Text 18"/>
          <p:cNvSpPr/>
          <p:nvPr/>
        </p:nvSpPr>
        <p:spPr>
          <a:xfrm>
            <a:off x="640080" y="5212080"/>
            <a:ext cx="10972800" cy="320040"/>
          </a:xfrm>
          <a:prstGeom prst="rect">
            <a:avLst/>
          </a:prstGeom>
          <a:noFill/>
          <a:ln/>
        </p:spPr>
        <p:txBody>
          <a:bodyPr wrap="square" lIns="0" tIns="0" rIns="0" bIns="0" rtlCol="0" anchor="ctr"/>
          <a:lstStyle/>
          <a:p>
            <a:pPr marL="0" indent="0">
              <a:buNone/>
            </a:pPr>
            <a:r>
              <a:rPr lang="en-US" sz="1200" b="1" kern="0" spc="300" dirty="0">
                <a:solidFill>
                  <a:srgbClr val="94A3B8"/>
                </a:solidFill>
                <a:latin typeface="Calibri" pitchFamily="34" charset="0"/>
                <a:ea typeface="Calibri" pitchFamily="34" charset="-122"/>
                <a:cs typeface="Calibri" pitchFamily="34" charset="-120"/>
              </a:rPr>
              <a:t>Logs del unico Emergency (iter 1000, plate EWL-254)</a:t>
            </a:r>
            <a:endParaRPr lang="en-US" sz="1200" dirty="0"/>
          </a:p>
        </p:txBody>
      </p:sp>
      <p:sp>
        <p:nvSpPr>
          <p:cNvPr id="21" name="Text 19"/>
          <p:cNvSpPr/>
          <p:nvPr/>
        </p:nvSpPr>
        <p:spPr>
          <a:xfrm>
            <a:off x="640080" y="5532120"/>
            <a:ext cx="10972800" cy="777240"/>
          </a:xfrm>
          <a:prstGeom prst="rect">
            <a:avLst/>
          </a:prstGeom>
          <a:noFill/>
          <a:ln/>
        </p:spPr>
        <p:txBody>
          <a:bodyPr wrap="square" lIns="0" tIns="0" rIns="0" bIns="0" rtlCol="0" anchor="t"/>
          <a:lstStyle/>
          <a:p>
            <a:pPr marL="0" indent="0">
              <a:spcAft>
                <a:spcPts val="200"/>
              </a:spcAft>
              <a:buNone/>
            </a:pPr>
            <a:r>
              <a:rPr lang="en-US" sz="1100" dirty="0">
                <a:solidFill>
                  <a:srgbClr val="60A5FA"/>
                </a:solidFill>
                <a:latin typeface="Consolas" pitchFamily="34" charset="0"/>
                <a:ea typeface="Consolas" pitchFamily="34" charset="-122"/>
                <a:cs typeface="Consolas" pitchFamily="34" charset="-120"/>
              </a:rPr>
              <a:t>[EMERGENCY_RECEIVED] ts=2026-04-27T10:47:13.037+00:00 request_seq=1000</a:t>
            </a:r>
            <a:endParaRPr lang="en-US" sz="1100" dirty="0"/>
          </a:p>
          <a:p>
            <a:pPr marL="0" indent="0">
              <a:spcAft>
                <a:spcPts val="200"/>
              </a:spcAft>
              <a:buNone/>
            </a:pPr>
            <a:r>
              <a:rPr lang="en-US" sz="1100" dirty="0">
                <a:solidFill>
                  <a:srgbClr val="4ADE80"/>
                </a:solidFill>
                <a:latin typeface="Consolas" pitchFamily="34" charset="0"/>
                <a:ea typeface="Consolas" pitchFamily="34" charset="-122"/>
                <a:cs typeface="Consolas" pitchFamily="34" charset="-120"/>
              </a:rPr>
              <a:t>[EMAIL_SENT]         ts=2026-04-27T10:47:13.291+00:00 to=erickcloud44@gmail.com</a:t>
            </a:r>
            <a:endParaRPr lang="en-US" sz="1100" dirty="0"/>
          </a:p>
        </p:txBody>
      </p:sp>
      <p:sp>
        <p:nvSpPr>
          <p:cNvPr id="22" name="Text 20"/>
          <p:cNvSpPr/>
          <p:nvPr/>
        </p:nvSpPr>
        <p:spPr>
          <a:xfrm>
            <a:off x="457200" y="6446520"/>
            <a:ext cx="10515600" cy="274320"/>
          </a:xfrm>
          <a:prstGeom prst="rect">
            <a:avLst/>
          </a:prstGeom>
          <a:noFill/>
          <a:ln/>
        </p:spPr>
        <p:txBody>
          <a:bodyPr wrap="square" lIns="0" tIns="0" rIns="0" bIns="0" rtlCol="0" anchor="ctr"/>
          <a:lstStyle/>
          <a:p>
            <a:pPr marL="0" indent="0" algn="l">
              <a:buNone/>
            </a:pPr>
            <a:r>
              <a:rPr lang="en-US" sz="900" dirty="0">
                <a:solidFill>
                  <a:srgbClr val="64748B"/>
                </a:solidFill>
                <a:latin typeface="Calibri" pitchFamily="34" charset="0"/>
                <a:ea typeface="Calibri" pitchFamily="34" charset="-122"/>
                <a:cs typeface="Calibri" pitchFamily="34" charset="-120"/>
              </a:rPr>
              <a:t>Reto 2 - Sistema de Alerta Temprana | Equipo: Padilla / Nieto / Valencia / Bohorquez | 2026-04-27</a:t>
            </a:r>
            <a:endParaRPr lang="en-US" sz="900" dirty="0"/>
          </a:p>
        </p:txBody>
      </p:sp>
      <p:sp>
        <p:nvSpPr>
          <p:cNvPr id="23" name="Text 21"/>
          <p:cNvSpPr/>
          <p:nvPr/>
        </p:nvSpPr>
        <p:spPr>
          <a:xfrm>
            <a:off x="11430000" y="6446520"/>
            <a:ext cx="274320" cy="27432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0">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320040"/>
            <a:ext cx="11247120" cy="640080"/>
          </a:xfrm>
          <a:prstGeom prst="rect">
            <a:avLst/>
          </a:prstGeom>
          <a:noFill/>
          <a:ln/>
        </p:spPr>
        <p:txBody>
          <a:bodyPr wrap="square" lIns="0" tIns="0" rIns="0" bIns="0" rtlCol="0" anchor="ctr"/>
          <a:lstStyle/>
          <a:p>
            <a:pPr marL="0" indent="0" algn="l">
              <a:buNone/>
            </a:pPr>
            <a:r>
              <a:rPr lang="en-US" sz="3200" b="1" dirty="0">
                <a:solidFill>
                  <a:srgbClr val="0F172A"/>
                </a:solidFill>
                <a:latin typeface="Calibri" pitchFamily="34" charset="0"/>
                <a:ea typeface="Calibri" pitchFamily="34" charset="-122"/>
                <a:cs typeface="Calibri" pitchFamily="34" charset="-120"/>
              </a:rPr>
              <a:t>Cumplimiento de la rubrica</a:t>
            </a:r>
            <a:endParaRPr lang="en-US" sz="3200" dirty="0"/>
          </a:p>
        </p:txBody>
      </p:sp>
      <p:sp>
        <p:nvSpPr>
          <p:cNvPr id="3" name="Text 1"/>
          <p:cNvSpPr/>
          <p:nvPr/>
        </p:nvSpPr>
        <p:spPr>
          <a:xfrm>
            <a:off x="457200" y="960120"/>
            <a:ext cx="11247120" cy="365760"/>
          </a:xfrm>
          <a:prstGeom prst="rect">
            <a:avLst/>
          </a:prstGeom>
          <a:noFill/>
          <a:ln/>
        </p:spPr>
        <p:txBody>
          <a:bodyPr wrap="square" lIns="0" tIns="0" rIns="0" bIns="0" rtlCol="0" anchor="ctr"/>
          <a:lstStyle/>
          <a:p>
            <a:pPr marL="0" indent="0" algn="l">
              <a:buNone/>
            </a:pPr>
            <a:r>
              <a:rPr lang="en-US" sz="1400" i="1" dirty="0">
                <a:solidFill>
                  <a:srgbClr val="64748B"/>
                </a:solidFill>
                <a:latin typeface="Calibri" pitchFamily="34" charset="0"/>
                <a:ea typeface="Calibri" pitchFamily="34" charset="-122"/>
                <a:cs typeface="Calibri" pitchFamily="34" charset="-120"/>
              </a:rPr>
              <a:t>Donde se evidencia cada criterio</a:t>
            </a:r>
            <a:endParaRPr lang="en-US" sz="14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11247120" cy="3977640"/>
        </p:xfrm>
        <a:graphic>
          <a:graphicData uri="http://schemas.openxmlformats.org/drawingml/2006/table">
            <a:tbl>
              <a:tblPr/>
              <a:tblGrid>
                <a:gridCol w="393192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gridCol w="1280160">
                  <a:extLst>
                    <a:ext uri="{9D8B030D-6E8A-4147-A177-3AD203B41FA5}">
                      <a16:colId xmlns:a16="http://schemas.microsoft.com/office/drawing/2014/main" val="20003"/>
                    </a:ext>
                  </a:extLst>
                </a:gridCol>
              </a:tblGrid>
              <a:tr h="502920">
                <a:tc>
                  <a:txBody>
                    <a:bodyPr/>
                    <a:lstStyle/>
                    <a:p>
                      <a:pPr marL="0" indent="0" algn="l">
                        <a:buNone/>
                      </a:pPr>
                      <a:r>
                        <a:rPr lang="en-US" sz="1300" b="1" dirty="0">
                          <a:solidFill>
                            <a:srgbClr val="FFFFFF"/>
                          </a:solidFill>
                          <a:latin typeface="Calibri" pitchFamily="34" charset="0"/>
                          <a:ea typeface="Calibri" pitchFamily="34" charset="-122"/>
                          <a:cs typeface="Calibri" pitchFamily="34" charset="-120"/>
                        </a:rPr>
                        <a:t>Criterio</a:t>
                      </a:r>
                      <a:endParaRPr lang="en-US" sz="1300" dirty="0">
                        <a:latin typeface="Calibri" charset="0"/>
                        <a:ea typeface="Calibri" charset="0"/>
                        <a:cs typeface="Calibri" charset="0"/>
                      </a:endParaRPr>
                    </a:p>
                  </a:txBody>
                  <a:tcPr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0F172A"/>
                    </a:solidFill>
                  </a:tcPr>
                </a:tc>
                <a:tc>
                  <a:txBody>
                    <a:bodyPr/>
                    <a:lstStyle/>
                    <a:p>
                      <a:pPr marL="0" indent="0" algn="ctr">
                        <a:buNone/>
                      </a:pPr>
                      <a:r>
                        <a:rPr lang="en-US" sz="1300" b="1" dirty="0">
                          <a:solidFill>
                            <a:srgbClr val="FFFFFF"/>
                          </a:solidFill>
                          <a:latin typeface="Calibri" pitchFamily="34" charset="0"/>
                          <a:ea typeface="Calibri" pitchFamily="34" charset="-122"/>
                          <a:cs typeface="Calibri" pitchFamily="34" charset="-120"/>
                        </a:rPr>
                        <a:t>Ponderacion</a:t>
                      </a:r>
                      <a:endParaRPr lang="en-US" sz="1300" dirty="0">
                        <a:latin typeface="Calibri" charset="0"/>
                        <a:ea typeface="Calibri" charset="0"/>
                        <a:cs typeface="Calibri" charset="0"/>
                      </a:endParaRPr>
                    </a:p>
                  </a:txBody>
                  <a:tcPr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0F172A"/>
                    </a:solidFill>
                  </a:tcPr>
                </a:tc>
                <a:tc>
                  <a:txBody>
                    <a:bodyPr/>
                    <a:lstStyle/>
                    <a:p>
                      <a:pPr marL="0" indent="0" algn="l">
                        <a:buNone/>
                      </a:pPr>
                      <a:r>
                        <a:rPr lang="en-US" sz="1300" b="1" dirty="0">
                          <a:solidFill>
                            <a:srgbClr val="FFFFFF"/>
                          </a:solidFill>
                          <a:latin typeface="Calibri" pitchFamily="34" charset="0"/>
                          <a:ea typeface="Calibri" pitchFamily="34" charset="-122"/>
                          <a:cs typeface="Calibri" pitchFamily="34" charset="-120"/>
                        </a:rPr>
                        <a:t>Evidencia</a:t>
                      </a:r>
                      <a:endParaRPr lang="en-US" sz="1300" dirty="0">
                        <a:latin typeface="Calibri" charset="0"/>
                        <a:ea typeface="Calibri" charset="0"/>
                        <a:cs typeface="Calibri" charset="0"/>
                      </a:endParaRPr>
                    </a:p>
                  </a:txBody>
                  <a:tcPr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0F172A"/>
                    </a:solidFill>
                  </a:tcPr>
                </a:tc>
                <a:tc>
                  <a:txBody>
                    <a:bodyPr/>
                    <a:lstStyle/>
                    <a:p>
                      <a:pPr marL="0" indent="0" algn="ctr">
                        <a:buNone/>
                      </a:pPr>
                      <a:r>
                        <a:rPr lang="en-US" sz="1300" b="1" dirty="0">
                          <a:solidFill>
                            <a:srgbClr val="FFFFFF"/>
                          </a:solidFill>
                          <a:latin typeface="Calibri" pitchFamily="34" charset="0"/>
                          <a:ea typeface="Calibri" pitchFamily="34" charset="-122"/>
                          <a:cs typeface="Calibri" pitchFamily="34" charset="-120"/>
                        </a:rPr>
                        <a:t>Estado</a:t>
                      </a:r>
                      <a:endParaRPr lang="en-US" sz="1300" dirty="0">
                        <a:latin typeface="Calibri" charset="0"/>
                        <a:ea typeface="Calibri" charset="0"/>
                        <a:cs typeface="Calibri" charset="0"/>
                      </a:endParaRPr>
                    </a:p>
                  </a:txBody>
                  <a:tcPr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0F172A"/>
                    </a:solidFill>
                  </a:tcPr>
                </a:tc>
                <a:extLst>
                  <a:ext uri="{0D108BD9-81ED-4DB2-BD59-A6C34878D82A}">
                    <a16:rowId xmlns:a16="http://schemas.microsoft.com/office/drawing/2014/main" val="10000"/>
                  </a:ext>
                </a:extLst>
              </a:tr>
              <a:tr h="548640">
                <a:tc>
                  <a:txBody>
                    <a:bodyPr/>
                    <a:lstStyle/>
                    <a:p>
                      <a:pPr marL="0" indent="0" algn="l">
                        <a:buNone/>
                      </a:pPr>
                      <a:r>
                        <a:rPr lang="en-US" sz="1300" dirty="0">
                          <a:solidFill>
                            <a:srgbClr val="0F172A"/>
                          </a:solidFill>
                          <a:latin typeface="Calibri" pitchFamily="34" charset="0"/>
                          <a:ea typeface="Calibri" pitchFamily="34" charset="-122"/>
                          <a:cs typeface="Calibri" pitchFamily="34" charset="-120"/>
                        </a:rPr>
                        <a:t>Justificacion de decisiones</a:t>
                      </a:r>
                      <a:endParaRPr lang="en-US" sz="1300" dirty="0">
                        <a:latin typeface="Calibri" charset="0"/>
                        <a:ea typeface="Calibri" charset="0"/>
                        <a:cs typeface="Calibri" charset="0"/>
                      </a:endParaRPr>
                    </a:p>
                  </a:txBody>
                  <a:tcPr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marL="0" indent="0" algn="ctr">
                        <a:buNone/>
                      </a:pPr>
                      <a:r>
                        <a:rPr lang="en-US" sz="1300" dirty="0">
                          <a:solidFill>
                            <a:srgbClr val="0F172A"/>
                          </a:solidFill>
                          <a:latin typeface="Calibri" pitchFamily="34" charset="0"/>
                          <a:ea typeface="Calibri" pitchFamily="34" charset="-122"/>
                          <a:cs typeface="Calibri" pitchFamily="34" charset="-120"/>
                        </a:rPr>
                        <a:t>0.5</a:t>
                      </a:r>
                      <a:endParaRPr lang="en-US" sz="1300" dirty="0">
                        <a:latin typeface="Calibri" charset="0"/>
                        <a:ea typeface="Calibri" charset="0"/>
                        <a:cs typeface="Calibri" charset="0"/>
                      </a:endParaRPr>
                    </a:p>
                  </a:txBody>
                  <a:tcPr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marL="0" indent="0" algn="l">
                        <a:buNone/>
                      </a:pPr>
                      <a:r>
                        <a:rPr lang="en-US" sz="1300" dirty="0">
                          <a:solidFill>
                            <a:srgbClr val="0F172A"/>
                          </a:solidFill>
                          <a:latin typeface="Calibri" pitchFamily="34" charset="0"/>
                          <a:ea typeface="Calibri" pitchFamily="34" charset="-122"/>
                          <a:cs typeface="Calibri" pitchFamily="34" charset="-120"/>
                        </a:rPr>
                        <a:t>Slide 4 (tabla de 5 decisiones clave)</a:t>
                      </a:r>
                      <a:endParaRPr lang="en-US" sz="1300" dirty="0">
                        <a:latin typeface="Calibri" charset="0"/>
                        <a:ea typeface="Calibri" charset="0"/>
                        <a:cs typeface="Calibri" charset="0"/>
                      </a:endParaRPr>
                    </a:p>
                  </a:txBody>
                  <a:tcPr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marL="0" indent="0" algn="ctr">
                        <a:buNone/>
                      </a:pPr>
                      <a:r>
                        <a:rPr lang="en-US" sz="1800" b="1" dirty="0">
                          <a:solidFill>
                            <a:srgbClr val="16A34A"/>
                          </a:solidFill>
                          <a:latin typeface="Calibri" pitchFamily="34" charset="0"/>
                          <a:ea typeface="Calibri" pitchFamily="34" charset="-122"/>
                          <a:cs typeface="Calibri" pitchFamily="34" charset="-120"/>
                        </a:rPr>
                        <a:t>OK</a:t>
                      </a:r>
                      <a:endParaRPr lang="en-US" sz="1800" dirty="0">
                        <a:latin typeface="Calibri" charset="0"/>
                        <a:ea typeface="Calibri" charset="0"/>
                        <a:cs typeface="Calibri" charset="0"/>
                      </a:endParaRPr>
                    </a:p>
                  </a:txBody>
                  <a:tcPr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1"/>
                  </a:ext>
                </a:extLst>
              </a:tr>
              <a:tr h="548640">
                <a:tc>
                  <a:txBody>
                    <a:bodyPr/>
                    <a:lstStyle/>
                    <a:p>
                      <a:pPr marL="0" indent="0" algn="l">
                        <a:buNone/>
                      </a:pPr>
                      <a:r>
                        <a:rPr lang="en-US" sz="1300" dirty="0">
                          <a:solidFill>
                            <a:srgbClr val="0F172A"/>
                          </a:solidFill>
                          <a:latin typeface="Calibri" pitchFamily="34" charset="0"/>
                          <a:ea typeface="Calibri" pitchFamily="34" charset="-122"/>
                          <a:cs typeface="Calibri" pitchFamily="34" charset="-120"/>
                        </a:rPr>
                        <a:t>Atributo de calidad mas importante</a:t>
                      </a:r>
                      <a:endParaRPr lang="en-US" sz="1300" dirty="0">
                        <a:latin typeface="Calibri" charset="0"/>
                        <a:ea typeface="Calibri" charset="0"/>
                        <a:cs typeface="Calibri" charset="0"/>
                      </a:endParaRPr>
                    </a:p>
                  </a:txBody>
                  <a:tcPr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marL="0" indent="0" algn="ctr">
                        <a:buNone/>
                      </a:pPr>
                      <a:r>
                        <a:rPr lang="en-US" sz="1300" dirty="0">
                          <a:solidFill>
                            <a:srgbClr val="0F172A"/>
                          </a:solidFill>
                          <a:latin typeface="Calibri" pitchFamily="34" charset="0"/>
                          <a:ea typeface="Calibri" pitchFamily="34" charset="-122"/>
                          <a:cs typeface="Calibri" pitchFamily="34" charset="-120"/>
                        </a:rPr>
                        <a:t>0.5</a:t>
                      </a:r>
                      <a:endParaRPr lang="en-US" sz="1300" dirty="0">
                        <a:latin typeface="Calibri" charset="0"/>
                        <a:ea typeface="Calibri" charset="0"/>
                        <a:cs typeface="Calibri" charset="0"/>
                      </a:endParaRPr>
                    </a:p>
                  </a:txBody>
                  <a:tcPr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marL="0" indent="0" algn="l">
                        <a:buNone/>
                      </a:pPr>
                      <a:r>
                        <a:rPr lang="en-US" sz="1300" dirty="0">
                          <a:solidFill>
                            <a:srgbClr val="0F172A"/>
                          </a:solidFill>
                          <a:latin typeface="Calibri" pitchFamily="34" charset="0"/>
                          <a:ea typeface="Calibri" pitchFamily="34" charset="-122"/>
                          <a:cs typeface="Calibri" pitchFamily="34" charset="-120"/>
                        </a:rPr>
                        <a:t>Slide 5 (Performance + atributos secundarios)</a:t>
                      </a:r>
                      <a:endParaRPr lang="en-US" sz="1300" dirty="0">
                        <a:latin typeface="Calibri" charset="0"/>
                        <a:ea typeface="Calibri" charset="0"/>
                        <a:cs typeface="Calibri" charset="0"/>
                      </a:endParaRPr>
                    </a:p>
                  </a:txBody>
                  <a:tcPr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marL="0" indent="0" algn="ctr">
                        <a:buNone/>
                      </a:pPr>
                      <a:r>
                        <a:rPr lang="en-US" sz="1800" b="1" dirty="0">
                          <a:solidFill>
                            <a:srgbClr val="16A34A"/>
                          </a:solidFill>
                          <a:latin typeface="Calibri" pitchFamily="34" charset="0"/>
                          <a:ea typeface="Calibri" pitchFamily="34" charset="-122"/>
                          <a:cs typeface="Calibri" pitchFamily="34" charset="-120"/>
                        </a:rPr>
                        <a:t>OK</a:t>
                      </a:r>
                      <a:endParaRPr lang="en-US" sz="1800" dirty="0">
                        <a:latin typeface="Calibri" charset="0"/>
                        <a:ea typeface="Calibri" charset="0"/>
                        <a:cs typeface="Calibri" charset="0"/>
                      </a:endParaRPr>
                    </a:p>
                  </a:txBody>
                  <a:tcPr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2"/>
                  </a:ext>
                </a:extLst>
              </a:tr>
              <a:tr h="548640">
                <a:tc>
                  <a:txBody>
                    <a:bodyPr/>
                    <a:lstStyle/>
                    <a:p>
                      <a:pPr marL="0" indent="0" algn="l">
                        <a:buNone/>
                      </a:pPr>
                      <a:r>
                        <a:rPr lang="en-US" sz="1300" dirty="0">
                          <a:solidFill>
                            <a:srgbClr val="0F172A"/>
                          </a:solidFill>
                          <a:latin typeface="Calibri" pitchFamily="34" charset="0"/>
                          <a:ea typeface="Calibri" pitchFamily="34" charset="-122"/>
                          <a:cs typeface="Calibri" pitchFamily="34" charset="-120"/>
                        </a:rPr>
                        <a:t>Diagrama de arquitectura</a:t>
                      </a:r>
                      <a:endParaRPr lang="en-US" sz="1300" dirty="0">
                        <a:latin typeface="Calibri" charset="0"/>
                        <a:ea typeface="Calibri" charset="0"/>
                        <a:cs typeface="Calibri" charset="0"/>
                      </a:endParaRPr>
                    </a:p>
                  </a:txBody>
                  <a:tcPr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marL="0" indent="0" algn="ctr">
                        <a:buNone/>
                      </a:pPr>
                      <a:r>
                        <a:rPr lang="en-US" sz="1300" dirty="0">
                          <a:solidFill>
                            <a:srgbClr val="0F172A"/>
                          </a:solidFill>
                          <a:latin typeface="Calibri" pitchFamily="34" charset="0"/>
                          <a:ea typeface="Calibri" pitchFamily="34" charset="-122"/>
                          <a:cs typeface="Calibri" pitchFamily="34" charset="-120"/>
                        </a:rPr>
                        <a:t>0.5</a:t>
                      </a:r>
                      <a:endParaRPr lang="en-US" sz="1300" dirty="0">
                        <a:latin typeface="Calibri" charset="0"/>
                        <a:ea typeface="Calibri" charset="0"/>
                        <a:cs typeface="Calibri" charset="0"/>
                      </a:endParaRPr>
                    </a:p>
                  </a:txBody>
                  <a:tcPr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marL="0" indent="0" algn="l">
                        <a:buNone/>
                      </a:pPr>
                      <a:r>
                        <a:rPr lang="en-US" sz="1300" dirty="0">
                          <a:solidFill>
                            <a:srgbClr val="0F172A"/>
                          </a:solidFill>
                          <a:latin typeface="Calibri" pitchFamily="34" charset="0"/>
                          <a:ea typeface="Calibri" pitchFamily="34" charset="-122"/>
                          <a:cs typeface="Calibri" pitchFamily="34" charset="-120"/>
                        </a:rPr>
                        <a:t>Slide 3 (diagrama completo us-east-1)</a:t>
                      </a:r>
                      <a:endParaRPr lang="en-US" sz="1300" dirty="0">
                        <a:latin typeface="Calibri" charset="0"/>
                        <a:ea typeface="Calibri" charset="0"/>
                        <a:cs typeface="Calibri" charset="0"/>
                      </a:endParaRPr>
                    </a:p>
                  </a:txBody>
                  <a:tcPr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marL="0" indent="0" algn="ctr">
                        <a:buNone/>
                      </a:pPr>
                      <a:r>
                        <a:rPr lang="en-US" sz="1800" b="1" dirty="0">
                          <a:solidFill>
                            <a:srgbClr val="16A34A"/>
                          </a:solidFill>
                          <a:latin typeface="Calibri" pitchFamily="34" charset="0"/>
                          <a:ea typeface="Calibri" pitchFamily="34" charset="-122"/>
                          <a:cs typeface="Calibri" pitchFamily="34" charset="-120"/>
                        </a:rPr>
                        <a:t>OK</a:t>
                      </a:r>
                      <a:endParaRPr lang="en-US" sz="1800" dirty="0">
                        <a:latin typeface="Calibri" charset="0"/>
                        <a:ea typeface="Calibri" charset="0"/>
                        <a:cs typeface="Calibri" charset="0"/>
                      </a:endParaRPr>
                    </a:p>
                  </a:txBody>
                  <a:tcPr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3"/>
                  </a:ext>
                </a:extLst>
              </a:tr>
              <a:tr h="548640">
                <a:tc>
                  <a:txBody>
                    <a:bodyPr/>
                    <a:lstStyle/>
                    <a:p>
                      <a:pPr marL="0" indent="0" algn="l">
                        <a:buNone/>
                      </a:pPr>
                      <a:r>
                        <a:rPr lang="en-US" sz="1300" dirty="0">
                          <a:solidFill>
                            <a:srgbClr val="0F172A"/>
                          </a:solidFill>
                          <a:latin typeface="Calibri" pitchFamily="34" charset="0"/>
                          <a:ea typeface="Calibri" pitchFamily="34" charset="-122"/>
                          <a:cs typeface="Calibri" pitchFamily="34" charset="-120"/>
                        </a:rPr>
                        <a:t>Tacticas de arquitectura</a:t>
                      </a:r>
                      <a:endParaRPr lang="en-US" sz="1300" dirty="0">
                        <a:latin typeface="Calibri" charset="0"/>
                        <a:ea typeface="Calibri" charset="0"/>
                        <a:cs typeface="Calibri" charset="0"/>
                      </a:endParaRPr>
                    </a:p>
                  </a:txBody>
                  <a:tcPr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marL="0" indent="0" algn="ctr">
                        <a:buNone/>
                      </a:pPr>
                      <a:r>
                        <a:rPr lang="en-US" sz="1300" dirty="0">
                          <a:solidFill>
                            <a:srgbClr val="0F172A"/>
                          </a:solidFill>
                          <a:latin typeface="Calibri" pitchFamily="34" charset="0"/>
                          <a:ea typeface="Calibri" pitchFamily="34" charset="-122"/>
                          <a:cs typeface="Calibri" pitchFamily="34" charset="-120"/>
                        </a:rPr>
                        <a:t>1.0</a:t>
                      </a:r>
                      <a:endParaRPr lang="en-US" sz="1300" dirty="0">
                        <a:latin typeface="Calibri" charset="0"/>
                        <a:ea typeface="Calibri" charset="0"/>
                        <a:cs typeface="Calibri" charset="0"/>
                      </a:endParaRPr>
                    </a:p>
                  </a:txBody>
                  <a:tcPr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marL="0" indent="0" algn="l">
                        <a:buNone/>
                      </a:pPr>
                      <a:r>
                        <a:rPr lang="en-US" sz="1300" dirty="0">
                          <a:solidFill>
                            <a:srgbClr val="0F172A"/>
                          </a:solidFill>
                          <a:latin typeface="Calibri" pitchFamily="34" charset="0"/>
                          <a:ea typeface="Calibri" pitchFamily="34" charset="-122"/>
                          <a:cs typeface="Calibri" pitchFamily="34" charset="-120"/>
                        </a:rPr>
                        <a:t>Slide 6 (4 categorias SEI)</a:t>
                      </a:r>
                      <a:endParaRPr lang="en-US" sz="1300" dirty="0">
                        <a:latin typeface="Calibri" charset="0"/>
                        <a:ea typeface="Calibri" charset="0"/>
                        <a:cs typeface="Calibri" charset="0"/>
                      </a:endParaRPr>
                    </a:p>
                  </a:txBody>
                  <a:tcPr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marL="0" indent="0" algn="ctr">
                        <a:buNone/>
                      </a:pPr>
                      <a:r>
                        <a:rPr lang="en-US" sz="1800" b="1" dirty="0">
                          <a:solidFill>
                            <a:srgbClr val="16A34A"/>
                          </a:solidFill>
                          <a:latin typeface="Calibri" pitchFamily="34" charset="0"/>
                          <a:ea typeface="Calibri" pitchFamily="34" charset="-122"/>
                          <a:cs typeface="Calibri" pitchFamily="34" charset="-120"/>
                        </a:rPr>
                        <a:t>OK</a:t>
                      </a:r>
                      <a:endParaRPr lang="en-US" sz="1800" dirty="0">
                        <a:latin typeface="Calibri" charset="0"/>
                        <a:ea typeface="Calibri" charset="0"/>
                        <a:cs typeface="Calibri" charset="0"/>
                      </a:endParaRPr>
                    </a:p>
                  </a:txBody>
                  <a:tcPr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4"/>
                  </a:ext>
                </a:extLst>
              </a:tr>
              <a:tr h="640080">
                <a:tc>
                  <a:txBody>
                    <a:bodyPr/>
                    <a:lstStyle/>
                    <a:p>
                      <a:pPr marL="0" indent="0" algn="l">
                        <a:buNone/>
                      </a:pPr>
                      <a:r>
                        <a:rPr lang="en-US" sz="1300" dirty="0">
                          <a:solidFill>
                            <a:srgbClr val="0F172A"/>
                          </a:solidFill>
                          <a:latin typeface="Calibri" pitchFamily="34" charset="0"/>
                          <a:ea typeface="Calibri" pitchFamily="34" charset="-122"/>
                          <a:cs typeface="Calibri" pitchFamily="34" charset="-120"/>
                        </a:rPr>
                        <a:t>Tiempo de entrega del correo &lt; 15s</a:t>
                      </a:r>
                      <a:endParaRPr lang="en-US" sz="1300" dirty="0">
                        <a:latin typeface="Calibri" charset="0"/>
                        <a:ea typeface="Calibri" charset="0"/>
                        <a:cs typeface="Calibri" charset="0"/>
                      </a:endParaRPr>
                    </a:p>
                  </a:txBody>
                  <a:tcPr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marL="0" indent="0" algn="ctr">
                        <a:buNone/>
                      </a:pPr>
                      <a:r>
                        <a:rPr lang="en-US" sz="1300" b="1" dirty="0">
                          <a:solidFill>
                            <a:srgbClr val="16A34A"/>
                          </a:solidFill>
                          <a:latin typeface="Calibri" pitchFamily="34" charset="0"/>
                          <a:ea typeface="Calibri" pitchFamily="34" charset="-122"/>
                          <a:cs typeface="Calibri" pitchFamily="34" charset="-120"/>
                        </a:rPr>
                        <a:t>2.5</a:t>
                      </a:r>
                      <a:endParaRPr lang="en-US" sz="1300" dirty="0">
                        <a:latin typeface="Calibri" charset="0"/>
                        <a:ea typeface="Calibri" charset="0"/>
                        <a:cs typeface="Calibri" charset="0"/>
                      </a:endParaRPr>
                    </a:p>
                  </a:txBody>
                  <a:tcPr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marL="0" indent="0" algn="l">
                        <a:buNone/>
                      </a:pPr>
                      <a:r>
                        <a:rPr lang="en-US" sz="1300" dirty="0">
                          <a:solidFill>
                            <a:srgbClr val="0F172A"/>
                          </a:solidFill>
                          <a:latin typeface="Calibri" pitchFamily="34" charset="0"/>
                          <a:ea typeface="Calibri" pitchFamily="34" charset="-122"/>
                          <a:cs typeface="Calibri" pitchFamily="34" charset="-120"/>
                        </a:rPr>
                        <a:t>Slide 8 (1000/1000, 254ms, &lt;15s)</a:t>
                      </a:r>
                      <a:endParaRPr lang="en-US" sz="1300" dirty="0">
                        <a:latin typeface="Calibri" charset="0"/>
                        <a:ea typeface="Calibri" charset="0"/>
                        <a:cs typeface="Calibri" charset="0"/>
                      </a:endParaRPr>
                    </a:p>
                  </a:txBody>
                  <a:tcPr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marL="0" indent="0" algn="ctr">
                        <a:buNone/>
                      </a:pPr>
                      <a:r>
                        <a:rPr lang="en-US" sz="1800" b="1" dirty="0">
                          <a:solidFill>
                            <a:srgbClr val="16A34A"/>
                          </a:solidFill>
                          <a:latin typeface="Calibri" pitchFamily="34" charset="0"/>
                          <a:ea typeface="Calibri" pitchFamily="34" charset="-122"/>
                          <a:cs typeface="Calibri" pitchFamily="34" charset="-120"/>
                        </a:rPr>
                        <a:t>OK</a:t>
                      </a:r>
                      <a:endParaRPr lang="en-US" sz="1800" dirty="0">
                        <a:latin typeface="Calibri" charset="0"/>
                        <a:ea typeface="Calibri" charset="0"/>
                        <a:cs typeface="Calibri" charset="0"/>
                      </a:endParaRPr>
                    </a:p>
                  </a:txBody>
                  <a:tcPr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5"/>
                  </a:ext>
                </a:extLst>
              </a:tr>
              <a:tr h="640080">
                <a:tc>
                  <a:txBody>
                    <a:bodyPr/>
                    <a:lstStyle/>
                    <a:p>
                      <a:pPr marL="0" indent="0" algn="l">
                        <a:buNone/>
                      </a:pPr>
                      <a:r>
                        <a:rPr lang="en-US" sz="1300" dirty="0">
                          <a:solidFill>
                            <a:srgbClr val="0F172A"/>
                          </a:solidFill>
                          <a:latin typeface="Calibri" pitchFamily="34" charset="0"/>
                          <a:ea typeface="Calibri" pitchFamily="34" charset="-122"/>
                          <a:cs typeface="Calibri" pitchFamily="34" charset="-120"/>
                        </a:rPr>
                        <a:t>Logs de recepcion y envio</a:t>
                      </a:r>
                      <a:endParaRPr lang="en-US" sz="1300" dirty="0">
                        <a:latin typeface="Calibri" charset="0"/>
                        <a:ea typeface="Calibri" charset="0"/>
                        <a:cs typeface="Calibri" charset="0"/>
                      </a:endParaRPr>
                    </a:p>
                  </a:txBody>
                  <a:tcPr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marL="0" indent="0" algn="ctr">
                        <a:buNone/>
                      </a:pPr>
                      <a:r>
                        <a:rPr lang="en-US" sz="1300" i="1" dirty="0">
                          <a:solidFill>
                            <a:srgbClr val="0F172A"/>
                          </a:solidFill>
                          <a:latin typeface="Calibri" pitchFamily="34" charset="0"/>
                          <a:ea typeface="Calibri" pitchFamily="34" charset="-122"/>
                          <a:cs typeface="Calibri" pitchFamily="34" charset="-120"/>
                        </a:rPr>
                        <a:t>incluido</a:t>
                      </a:r>
                      <a:endParaRPr lang="en-US" sz="1300" dirty="0">
                        <a:latin typeface="Calibri" charset="0"/>
                        <a:ea typeface="Calibri" charset="0"/>
                        <a:cs typeface="Calibri" charset="0"/>
                      </a:endParaRPr>
                    </a:p>
                  </a:txBody>
                  <a:tcPr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marL="0" indent="0" algn="l">
                        <a:buNone/>
                      </a:pPr>
                      <a:r>
                        <a:rPr lang="en-US" sz="1300" dirty="0">
                          <a:solidFill>
                            <a:srgbClr val="0F172A"/>
                          </a:solidFill>
                          <a:latin typeface="Calibri" pitchFamily="34" charset="0"/>
                          <a:ea typeface="Calibri" pitchFamily="34" charset="-122"/>
                          <a:cs typeface="Calibri" pitchFamily="34" charset="-120"/>
                        </a:rPr>
                        <a:t>Slide 8 + CloudWatch Live Tail en demo</a:t>
                      </a:r>
                      <a:endParaRPr lang="en-US" sz="1300" dirty="0">
                        <a:latin typeface="Calibri" charset="0"/>
                        <a:ea typeface="Calibri" charset="0"/>
                        <a:cs typeface="Calibri" charset="0"/>
                      </a:endParaRPr>
                    </a:p>
                  </a:txBody>
                  <a:tcPr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marL="0" indent="0" algn="ctr">
                        <a:buNone/>
                      </a:pPr>
                      <a:r>
                        <a:rPr lang="en-US" sz="1800" b="1" dirty="0">
                          <a:solidFill>
                            <a:srgbClr val="16A34A"/>
                          </a:solidFill>
                          <a:latin typeface="Calibri" pitchFamily="34" charset="0"/>
                          <a:ea typeface="Calibri" pitchFamily="34" charset="-122"/>
                          <a:cs typeface="Calibri" pitchFamily="34" charset="-120"/>
                        </a:rPr>
                        <a:t>OK</a:t>
                      </a:r>
                      <a:endParaRPr lang="en-US" sz="1800" dirty="0">
                        <a:latin typeface="Calibri" charset="0"/>
                        <a:ea typeface="Calibri" charset="0"/>
                        <a:cs typeface="Calibri" charset="0"/>
                      </a:endParaRPr>
                    </a:p>
                  </a:txBody>
                  <a:tcPr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
        <p:nvSpPr>
          <p:cNvPr id="5" name="Shape 2"/>
          <p:cNvSpPr/>
          <p:nvPr/>
        </p:nvSpPr>
        <p:spPr>
          <a:xfrm>
            <a:off x="457200" y="6035040"/>
            <a:ext cx="11247120" cy="548640"/>
          </a:xfrm>
          <a:prstGeom prst="rect">
            <a:avLst/>
          </a:prstGeom>
          <a:solidFill>
            <a:srgbClr val="16A34A"/>
          </a:solidFill>
          <a:ln w="12700">
            <a:solidFill>
              <a:srgbClr val="16A34A"/>
            </a:solidFill>
            <a:prstDash val="solid"/>
          </a:ln>
        </p:spPr>
        <p:txBody>
          <a:bodyPr/>
          <a:lstStyle/>
          <a:p>
            <a:endParaRPr lang="en-US"/>
          </a:p>
        </p:txBody>
      </p:sp>
      <p:sp>
        <p:nvSpPr>
          <p:cNvPr id="6" name="Text 3"/>
          <p:cNvSpPr/>
          <p:nvPr/>
        </p:nvSpPr>
        <p:spPr>
          <a:xfrm>
            <a:off x="457200" y="6035040"/>
            <a:ext cx="11247120"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Calibri" pitchFamily="34" charset="0"/>
                <a:ea typeface="Calibri" pitchFamily="34" charset="-122"/>
                <a:cs typeface="Calibri" pitchFamily="34" charset="-120"/>
              </a:rPr>
              <a:t>Puntaje esperado: 5.0 / 5.0</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172A"/>
        </a:solidFill>
        <a:effectLst/>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2563EB"/>
          </a:solidFill>
          <a:ln w="12700">
            <a:solidFill>
              <a:srgbClr val="2563EB"/>
            </a:solidFill>
            <a:prstDash val="solid"/>
          </a:ln>
        </p:spPr>
        <p:txBody>
          <a:bodyPr/>
          <a:lstStyle/>
          <a:p>
            <a:endParaRPr lang="en-US"/>
          </a:p>
        </p:txBody>
      </p:sp>
      <p:sp>
        <p:nvSpPr>
          <p:cNvPr id="3" name="Text 1"/>
          <p:cNvSpPr/>
          <p:nvPr/>
        </p:nvSpPr>
        <p:spPr>
          <a:xfrm>
            <a:off x="822960" y="1371600"/>
            <a:ext cx="10515600" cy="1280160"/>
          </a:xfrm>
          <a:prstGeom prst="rect">
            <a:avLst/>
          </a:prstGeom>
          <a:noFill/>
          <a:ln/>
        </p:spPr>
        <p:txBody>
          <a:bodyPr wrap="square" lIns="0" tIns="0" rIns="0" bIns="0" rtlCol="0" anchor="ctr"/>
          <a:lstStyle/>
          <a:p>
            <a:pPr marL="0" indent="0">
              <a:buNone/>
            </a:pPr>
            <a:r>
              <a:rPr lang="en-US" sz="7200" b="1" dirty="0">
                <a:solidFill>
                  <a:srgbClr val="FFFFFF"/>
                </a:solidFill>
                <a:latin typeface="Calibri" pitchFamily="34" charset="0"/>
                <a:ea typeface="Calibri" pitchFamily="34" charset="-122"/>
                <a:cs typeface="Calibri" pitchFamily="34" charset="-120"/>
              </a:rPr>
              <a:t>Gracias.</a:t>
            </a:r>
            <a:endParaRPr lang="en-US" sz="7200" dirty="0"/>
          </a:p>
        </p:txBody>
      </p:sp>
      <p:sp>
        <p:nvSpPr>
          <p:cNvPr id="4" name="Text 2"/>
          <p:cNvSpPr/>
          <p:nvPr/>
        </p:nvSpPr>
        <p:spPr>
          <a:xfrm>
            <a:off x="822960" y="2743200"/>
            <a:ext cx="10515600" cy="548640"/>
          </a:xfrm>
          <a:prstGeom prst="rect">
            <a:avLst/>
          </a:prstGeom>
          <a:noFill/>
          <a:ln/>
        </p:spPr>
        <p:txBody>
          <a:bodyPr wrap="square" lIns="0" tIns="0" rIns="0" bIns="0" rtlCol="0" anchor="ctr"/>
          <a:lstStyle/>
          <a:p>
            <a:pPr marL="0" indent="0">
              <a:buNone/>
            </a:pPr>
            <a:r>
              <a:rPr lang="en-US" sz="2200" i="1" dirty="0">
                <a:solidFill>
                  <a:srgbClr val="94A3B8"/>
                </a:solidFill>
                <a:latin typeface="Calibri" pitchFamily="34" charset="0"/>
                <a:ea typeface="Calibri" pitchFamily="34" charset="-122"/>
                <a:cs typeface="Calibri" pitchFamily="34" charset="-120"/>
              </a:rPr>
              <a:t>Preguntas y demo en vivo a continuacion.</a:t>
            </a:r>
            <a:endParaRPr lang="en-US" sz="2200" dirty="0"/>
          </a:p>
        </p:txBody>
      </p:sp>
      <p:sp>
        <p:nvSpPr>
          <p:cNvPr id="5" name="Shape 3"/>
          <p:cNvSpPr/>
          <p:nvPr/>
        </p:nvSpPr>
        <p:spPr>
          <a:xfrm>
            <a:off x="822960" y="3840480"/>
            <a:ext cx="10515600" cy="2194560"/>
          </a:xfrm>
          <a:prstGeom prst="rect">
            <a:avLst/>
          </a:prstGeom>
          <a:solidFill>
            <a:srgbClr val="1E293B"/>
          </a:solidFill>
          <a:ln w="12700">
            <a:solidFill>
              <a:srgbClr val="2563EB"/>
            </a:solidFill>
            <a:prstDash val="solid"/>
          </a:ln>
        </p:spPr>
        <p:txBody>
          <a:bodyPr/>
          <a:lstStyle/>
          <a:p>
            <a:endParaRPr lang="en-US"/>
          </a:p>
        </p:txBody>
      </p:sp>
      <p:sp>
        <p:nvSpPr>
          <p:cNvPr id="6" name="Shape 4"/>
          <p:cNvSpPr/>
          <p:nvPr/>
        </p:nvSpPr>
        <p:spPr>
          <a:xfrm>
            <a:off x="822960" y="3840480"/>
            <a:ext cx="73152" cy="2194560"/>
          </a:xfrm>
          <a:prstGeom prst="rect">
            <a:avLst/>
          </a:prstGeom>
          <a:solidFill>
            <a:srgbClr val="2563EB"/>
          </a:solidFill>
          <a:ln w="12700">
            <a:solidFill>
              <a:srgbClr val="2563EB"/>
            </a:solidFill>
            <a:prstDash val="solid"/>
          </a:ln>
        </p:spPr>
        <p:txBody>
          <a:bodyPr/>
          <a:lstStyle/>
          <a:p>
            <a:endParaRPr lang="en-US"/>
          </a:p>
        </p:txBody>
      </p:sp>
      <p:sp>
        <p:nvSpPr>
          <p:cNvPr id="7" name="Text 5"/>
          <p:cNvSpPr/>
          <p:nvPr/>
        </p:nvSpPr>
        <p:spPr>
          <a:xfrm>
            <a:off x="1097280" y="3977640"/>
            <a:ext cx="10058400" cy="274320"/>
          </a:xfrm>
          <a:prstGeom prst="rect">
            <a:avLst/>
          </a:prstGeom>
          <a:noFill/>
          <a:ln/>
        </p:spPr>
        <p:txBody>
          <a:bodyPr wrap="square" lIns="0" tIns="0" rIns="0" bIns="0" rtlCol="0" anchor="ctr"/>
          <a:lstStyle/>
          <a:p>
            <a:pPr marL="0" indent="0">
              <a:buNone/>
            </a:pPr>
            <a:r>
              <a:rPr lang="en-US" sz="1100" b="1" kern="0" spc="400" dirty="0">
                <a:solidFill>
                  <a:srgbClr val="94A3B8"/>
                </a:solidFill>
                <a:latin typeface="Calibri" pitchFamily="34" charset="0"/>
                <a:ea typeface="Calibri" pitchFamily="34" charset="-122"/>
                <a:cs typeface="Calibri" pitchFamily="34" charset="-120"/>
              </a:rPr>
              <a:t>REPOSITORIO PUBLICO</a:t>
            </a:r>
            <a:endParaRPr lang="en-US" sz="1100" dirty="0"/>
          </a:p>
        </p:txBody>
      </p:sp>
      <p:sp>
        <p:nvSpPr>
          <p:cNvPr id="8" name="Text 6"/>
          <p:cNvSpPr/>
          <p:nvPr/>
        </p:nvSpPr>
        <p:spPr>
          <a:xfrm>
            <a:off x="1097280" y="4297680"/>
            <a:ext cx="10058400" cy="457200"/>
          </a:xfrm>
          <a:prstGeom prst="rect">
            <a:avLst/>
          </a:prstGeom>
          <a:noFill/>
          <a:ln/>
        </p:spPr>
        <p:txBody>
          <a:bodyPr wrap="square" lIns="0" tIns="0" rIns="0" bIns="0" rtlCol="0" anchor="ctr"/>
          <a:lstStyle/>
          <a:p>
            <a:r>
              <a:rPr lang="en-US" sz="2200" b="1" dirty="0">
                <a:solidFill>
                  <a:srgbClr val="FFFFFF"/>
                </a:solidFill>
                <a:latin typeface="Calibri" pitchFamily="34" charset="0"/>
                <a:ea typeface="Calibri" pitchFamily="34" charset="-122"/>
                <a:cs typeface="Calibri" pitchFamily="34" charset="-120"/>
              </a:rPr>
              <a:t>github.com/</a:t>
            </a:r>
            <a:r>
              <a:rPr lang="en-US" sz="2200" b="1" dirty="0" err="1">
                <a:solidFill>
                  <a:srgbClr val="FFFFFF"/>
                </a:solidFill>
                <a:latin typeface="Calibri" pitchFamily="34" charset="0"/>
                <a:ea typeface="Calibri" pitchFamily="34" charset="-122"/>
                <a:cs typeface="Calibri" pitchFamily="34" charset="-120"/>
              </a:rPr>
              <a:t>DkSanjed</a:t>
            </a:r>
            <a:r>
              <a:rPr lang="en-US" sz="2200" b="1" dirty="0">
                <a:solidFill>
                  <a:srgbClr val="FFFFFF"/>
                </a:solidFill>
                <a:latin typeface="Calibri" pitchFamily="34" charset="0"/>
                <a:ea typeface="Calibri" pitchFamily="34" charset="-122"/>
                <a:cs typeface="Calibri" pitchFamily="34" charset="-120"/>
              </a:rPr>
              <a:t>/reto2-eventos-correos</a:t>
            </a:r>
            <a:endParaRPr lang="en-US" sz="2200" dirty="0"/>
          </a:p>
        </p:txBody>
      </p:sp>
      <p:sp>
        <p:nvSpPr>
          <p:cNvPr id="9" name="Text 7"/>
          <p:cNvSpPr/>
          <p:nvPr/>
        </p:nvSpPr>
        <p:spPr>
          <a:xfrm>
            <a:off x="1097280" y="4754880"/>
            <a:ext cx="10058400" cy="365760"/>
          </a:xfrm>
          <a:prstGeom prst="rect">
            <a:avLst/>
          </a:prstGeom>
          <a:noFill/>
          <a:ln/>
        </p:spPr>
        <p:txBody>
          <a:bodyPr wrap="square" lIns="0" tIns="0" rIns="0" bIns="0" rtlCol="0" anchor="ctr"/>
          <a:lstStyle/>
          <a:p>
            <a:pPr marL="0" indent="0">
              <a:buNone/>
            </a:pPr>
            <a:r>
              <a:rPr lang="en-US" sz="1300" dirty="0">
                <a:solidFill>
                  <a:srgbClr val="CBD5E1"/>
                </a:solidFill>
                <a:latin typeface="Calibri" pitchFamily="34" charset="0"/>
                <a:ea typeface="Calibri" pitchFamily="34" charset="-122"/>
                <a:cs typeface="Calibri" pitchFamily="34" charset="-120"/>
              </a:rPr>
              <a:t>Rama: main</a:t>
            </a:r>
            <a:endParaRPr lang="en-US" sz="1300" dirty="0"/>
          </a:p>
        </p:txBody>
      </p:sp>
      <p:sp>
        <p:nvSpPr>
          <p:cNvPr id="10" name="Text 8"/>
          <p:cNvSpPr/>
          <p:nvPr/>
        </p:nvSpPr>
        <p:spPr>
          <a:xfrm>
            <a:off x="1097280" y="5074920"/>
            <a:ext cx="10058400" cy="914400"/>
          </a:xfrm>
          <a:prstGeom prst="rect">
            <a:avLst/>
          </a:prstGeom>
          <a:noFill/>
          <a:ln/>
        </p:spPr>
        <p:txBody>
          <a:bodyPr wrap="square" lIns="0" tIns="0" rIns="0" bIns="0" rtlCol="0" anchor="ctr"/>
          <a:lstStyle/>
          <a:p>
            <a:pPr marL="0" indent="0">
              <a:spcAft>
                <a:spcPts val="400"/>
              </a:spcAft>
              <a:buNone/>
            </a:pPr>
            <a:r>
              <a:rPr lang="en-US" sz="1200" dirty="0">
                <a:solidFill>
                  <a:srgbClr val="CBD5E1"/>
                </a:solidFill>
                <a:latin typeface="Calibri" pitchFamily="34" charset="0"/>
                <a:ea typeface="Calibri" pitchFamily="34" charset="-122"/>
                <a:cs typeface="Calibri" pitchFamily="34" charset="-120"/>
              </a:rPr>
              <a:t>Infraestructura: 100% Terraform (30 recursos AWS)</a:t>
            </a:r>
            <a:endParaRPr lang="en-US" sz="1200" dirty="0"/>
          </a:p>
          <a:p>
            <a:pPr marL="0" indent="0">
              <a:spcAft>
                <a:spcPts val="400"/>
              </a:spcAft>
              <a:buNone/>
            </a:pPr>
            <a:r>
              <a:rPr lang="en-US" sz="1200" dirty="0">
                <a:solidFill>
                  <a:srgbClr val="CBD5E1"/>
                </a:solidFill>
                <a:latin typeface="Calibri" pitchFamily="34" charset="0"/>
                <a:ea typeface="Calibri" pitchFamily="34" charset="-122"/>
                <a:cs typeface="Calibri" pitchFamily="34" charset="-120"/>
              </a:rPr>
              <a:t>Procesador: AWS Lambda Python 3.12 ARM64 + SnapStart</a:t>
            </a:r>
            <a:endParaRPr lang="en-US" sz="1200" dirty="0"/>
          </a:p>
          <a:p>
            <a:pPr marL="0" indent="0">
              <a:spcAft>
                <a:spcPts val="400"/>
              </a:spcAft>
              <a:buNone/>
            </a:pPr>
            <a:r>
              <a:rPr lang="en-US" sz="1200" dirty="0">
                <a:solidFill>
                  <a:srgbClr val="60A5FA"/>
                </a:solidFill>
                <a:latin typeface="Calibri" pitchFamily="34" charset="0"/>
                <a:ea typeface="Calibri" pitchFamily="34" charset="-122"/>
                <a:cs typeface="Calibri" pitchFamily="34" charset="-120"/>
              </a:rPr>
              <a:t>Resultado: 1000/1000 OK | Lambda &gt; SES 254 ms | Total k6 &gt; Gmail &lt; 15 s</a:t>
            </a:r>
            <a:endParaRPr lang="en-US" sz="1200" dirty="0"/>
          </a:p>
        </p:txBody>
      </p:sp>
      <p:sp>
        <p:nvSpPr>
          <p:cNvPr id="11" name="Text 9"/>
          <p:cNvSpPr/>
          <p:nvPr/>
        </p:nvSpPr>
        <p:spPr>
          <a:xfrm>
            <a:off x="822960" y="6172200"/>
            <a:ext cx="10515600" cy="274320"/>
          </a:xfrm>
          <a:prstGeom prst="rect">
            <a:avLst/>
          </a:prstGeom>
          <a:noFill/>
          <a:ln/>
        </p:spPr>
        <p:txBody>
          <a:bodyPr wrap="square" lIns="0" tIns="0" rIns="0" bIns="0" rtlCol="0" anchor="ctr"/>
          <a:lstStyle/>
          <a:p>
            <a:pPr marL="0" indent="0">
              <a:buNone/>
            </a:pPr>
            <a:r>
              <a:rPr lang="en-US" sz="1100" b="1" dirty="0">
                <a:solidFill>
                  <a:srgbClr val="CBD5E1"/>
                </a:solidFill>
                <a:latin typeface="Calibri" pitchFamily="34" charset="0"/>
                <a:ea typeface="Calibri" pitchFamily="34" charset="-122"/>
                <a:cs typeface="Calibri" pitchFamily="34" charset="-120"/>
              </a:rPr>
              <a:t>Equipo: Luis Fernando Padilla  |  Erick Nieto  |  Raul Valencia  |  Juan Bohorquez</a:t>
            </a:r>
            <a:endParaRPr lang="en-US" sz="1100" dirty="0"/>
          </a:p>
        </p:txBody>
      </p:sp>
      <p:sp>
        <p:nvSpPr>
          <p:cNvPr id="12" name="Text 10"/>
          <p:cNvSpPr/>
          <p:nvPr/>
        </p:nvSpPr>
        <p:spPr>
          <a:xfrm>
            <a:off x="822960" y="6446520"/>
            <a:ext cx="10515600" cy="274320"/>
          </a:xfrm>
          <a:prstGeom prst="rect">
            <a:avLst/>
          </a:prstGeom>
          <a:noFill/>
          <a:ln/>
        </p:spPr>
        <p:txBody>
          <a:bodyPr wrap="square" lIns="0" tIns="0" rIns="0" bIns="0" rtlCol="0" anchor="ctr"/>
          <a:lstStyle/>
          <a:p>
            <a:pPr marL="0" indent="0">
              <a:buNone/>
            </a:pPr>
            <a:r>
              <a:rPr lang="en-US" sz="1000" dirty="0">
                <a:solidFill>
                  <a:srgbClr val="64748B"/>
                </a:solidFill>
                <a:latin typeface="Calibri" pitchFamily="34" charset="0"/>
                <a:ea typeface="Calibri" pitchFamily="34" charset="-122"/>
                <a:cs typeface="Calibri" pitchFamily="34" charset="-120"/>
              </a:rPr>
              <a:t>Diplomado Arquitecturas Cloud  |  Modulo 2  |  2026-04-27</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62</TotalTime>
  <Words>2470</Words>
  <Application>Microsoft Office PowerPoint</Application>
  <PresentationFormat>Panorámica</PresentationFormat>
  <Paragraphs>226</Paragraphs>
  <Slides>10</Slides>
  <Notes>10</Notes>
  <HiddenSlides>1</HiddenSlides>
  <MMClips>0</MMClips>
  <ScaleCrop>false</ScaleCrop>
  <HeadingPairs>
    <vt:vector size="6" baseType="variant">
      <vt:variant>
        <vt:lpstr>Fuentes usadas</vt:lpstr>
      </vt:variant>
      <vt:variant>
        <vt:i4>3</vt:i4>
      </vt:variant>
      <vt:variant>
        <vt:lpstr>Tema</vt:lpstr>
      </vt:variant>
      <vt:variant>
        <vt:i4>1</vt:i4>
      </vt:variant>
      <vt:variant>
        <vt:lpstr>Títulos de diapositiva</vt:lpstr>
      </vt:variant>
      <vt:variant>
        <vt:i4>10</vt:i4>
      </vt:variant>
    </vt:vector>
  </HeadingPairs>
  <TitlesOfParts>
    <vt:vector size="14" baseType="lpstr">
      <vt:lpstr>Arial</vt:lpstr>
      <vt:lpstr>Calibri</vt:lpstr>
      <vt:lpstr>Consolas</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Diplomado Arquitecturas Cloud — Modulo 2</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Reto 2 - Sistema de Alerta Temprana</dc:title>
  <dc:subject>PptxGenJS Presentation</dc:subject>
  <dc:creator>Luis Fernando Padilla, Erick Nieto, Raul Valencia, Juan Bohorquez</dc:creator>
  <cp:lastModifiedBy>Erick Nieto</cp:lastModifiedBy>
  <cp:revision>10</cp:revision>
  <dcterms:created xsi:type="dcterms:W3CDTF">2026-04-27T18:02:52Z</dcterms:created>
  <dcterms:modified xsi:type="dcterms:W3CDTF">2026-04-29T04:32:19Z</dcterms:modified>
</cp:coreProperties>
</file>